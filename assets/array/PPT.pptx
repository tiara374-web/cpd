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197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PEMBUKAAN (±5 </a:t>
            </a:r>
            <a:r>
              <a:rPr dirty="0" err="1"/>
              <a:t>menit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Kalimat</a:t>
            </a:r>
            <a:r>
              <a:rPr dirty="0"/>
              <a:t> </a:t>
            </a:r>
            <a:r>
              <a:rPr dirty="0" err="1"/>
              <a:t>pembuka</a:t>
            </a:r>
            <a:r>
              <a:rPr dirty="0"/>
              <a:t>:</a:t>
            </a:r>
          </a:p>
          <a:p>
            <a:r>
              <a:rPr dirty="0"/>
              <a:t>“</a:t>
            </a:r>
            <a:r>
              <a:rPr dirty="0" err="1"/>
              <a:t>Selamat</a:t>
            </a:r>
            <a:r>
              <a:rPr dirty="0"/>
              <a:t> </a:t>
            </a:r>
            <a:r>
              <a:rPr dirty="0" err="1"/>
              <a:t>pagi</a:t>
            </a:r>
            <a:r>
              <a:rPr dirty="0"/>
              <a:t>. </a:t>
            </a:r>
            <a:r>
              <a:rPr dirty="0" err="1"/>
              <a:t>Pertemuan</a:t>
            </a:r>
            <a:r>
              <a:rPr dirty="0"/>
              <a:t> </a:t>
            </a:r>
            <a:r>
              <a:rPr dirty="0" err="1"/>
              <a:t>kemarin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mencoba</a:t>
            </a:r>
            <a:r>
              <a:rPr dirty="0"/>
              <a:t> </a:t>
            </a:r>
            <a:r>
              <a:rPr dirty="0" err="1"/>
              <a:t>belajar</a:t>
            </a:r>
            <a:r>
              <a:rPr dirty="0"/>
              <a:t> Array </a:t>
            </a:r>
            <a:r>
              <a:rPr dirty="0" err="1"/>
              <a:t>sambil</a:t>
            </a:r>
            <a:r>
              <a:rPr dirty="0"/>
              <a:t> </a:t>
            </a:r>
            <a:r>
              <a:rPr dirty="0" err="1"/>
              <a:t>bekerja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empat</a:t>
            </a:r>
            <a:r>
              <a:rPr dirty="0"/>
              <a:t> </a:t>
            </a:r>
            <a:r>
              <a:rPr dirty="0" err="1"/>
              <a:t>pembagian</a:t>
            </a:r>
            <a:r>
              <a:rPr dirty="0"/>
              <a:t> </a:t>
            </a:r>
            <a:r>
              <a:rPr dirty="0" err="1"/>
              <a:t>tugas</a:t>
            </a:r>
            <a:r>
              <a:rPr dirty="0"/>
              <a:t>. Hari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akan</a:t>
            </a:r>
            <a:r>
              <a:rPr dirty="0"/>
              <a:t> </a:t>
            </a:r>
            <a:r>
              <a:rPr dirty="0" err="1"/>
              <a:t>memperbaiki</a:t>
            </a:r>
            <a:r>
              <a:rPr dirty="0"/>
              <a:t> </a:t>
            </a:r>
            <a:r>
              <a:rPr dirty="0" err="1"/>
              <a:t>bagian</a:t>
            </a:r>
            <a:r>
              <a:rPr dirty="0"/>
              <a:t> yang </a:t>
            </a:r>
            <a:r>
              <a:rPr dirty="0" err="1"/>
              <a:t>kemarin</a:t>
            </a:r>
            <a:r>
              <a:rPr dirty="0"/>
              <a:t> </a:t>
            </a:r>
            <a:r>
              <a:rPr dirty="0" err="1"/>
              <a:t>masih</a:t>
            </a:r>
            <a:r>
              <a:rPr dirty="0"/>
              <a:t> </a:t>
            </a:r>
            <a:r>
              <a:rPr dirty="0" err="1"/>
              <a:t>membuat</a:t>
            </a:r>
            <a:r>
              <a:rPr dirty="0"/>
              <a:t> </a:t>
            </a:r>
            <a:r>
              <a:rPr dirty="0" err="1"/>
              <a:t>bingung</a:t>
            </a:r>
            <a:r>
              <a:rPr dirty="0"/>
              <a:t>, </a:t>
            </a:r>
            <a:r>
              <a:rPr dirty="0" err="1"/>
              <a:t>lalu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coba</a:t>
            </a:r>
            <a:r>
              <a:rPr dirty="0"/>
              <a:t> </a:t>
            </a:r>
            <a:r>
              <a:rPr dirty="0" err="1"/>
              <a:t>lagi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cara</a:t>
            </a:r>
            <a:r>
              <a:rPr dirty="0"/>
              <a:t> yang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terstruktur</a:t>
            </a:r>
            <a:r>
              <a:rPr dirty="0"/>
              <a:t> dan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aktif</a:t>
            </a:r>
            <a:r>
              <a:rPr dirty="0"/>
              <a:t>.”</a:t>
            </a:r>
          </a:p>
          <a:p>
            <a:endParaRPr dirty="0"/>
          </a:p>
          <a:p>
            <a:r>
              <a:rPr dirty="0" err="1"/>
              <a:t>Tekankan</a:t>
            </a:r>
            <a:r>
              <a:rPr dirty="0"/>
              <a:t>:</a:t>
            </a:r>
          </a:p>
          <a:p>
            <a:r>
              <a:rPr dirty="0"/>
              <a:t>- Hari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mengulang</a:t>
            </a:r>
            <a:r>
              <a:rPr dirty="0"/>
              <a:t> </a:t>
            </a:r>
            <a:r>
              <a:rPr dirty="0" err="1"/>
              <a:t>semuanya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nol.</a:t>
            </a:r>
          </a:p>
          <a:p>
            <a:r>
              <a:rPr dirty="0"/>
              <a:t>- Kita </a:t>
            </a:r>
            <a:r>
              <a:rPr dirty="0" err="1"/>
              <a:t>akan</a:t>
            </a:r>
            <a:r>
              <a:rPr dirty="0"/>
              <a:t> </a:t>
            </a:r>
            <a:r>
              <a:rPr dirty="0" err="1"/>
              <a:t>menghubungkan</a:t>
            </a:r>
            <a:r>
              <a:rPr dirty="0"/>
              <a:t> Array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perulangan</a:t>
            </a:r>
            <a:r>
              <a:rPr dirty="0"/>
              <a:t> for.</a:t>
            </a:r>
          </a:p>
          <a:p>
            <a:r>
              <a:rPr dirty="0"/>
              <a:t>- Kita juga </a:t>
            </a:r>
            <a:r>
              <a:rPr dirty="0" err="1"/>
              <a:t>akan</a:t>
            </a:r>
            <a:r>
              <a:rPr dirty="0"/>
              <a:t> </a:t>
            </a:r>
            <a:r>
              <a:rPr dirty="0" err="1"/>
              <a:t>memperjelas</a:t>
            </a:r>
            <a:r>
              <a:rPr dirty="0"/>
              <a:t> </a:t>
            </a:r>
            <a:r>
              <a:rPr dirty="0" err="1"/>
              <a:t>apa</a:t>
            </a:r>
            <a:r>
              <a:rPr dirty="0"/>
              <a:t> yang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dilakukan</a:t>
            </a:r>
            <a:r>
              <a:rPr dirty="0"/>
              <a:t> oleh Analyst, Designer, Implementer, dan Tester.</a:t>
            </a:r>
          </a:p>
          <a:p>
            <a:r>
              <a:rPr dirty="0"/>
              <a:t>- </a:t>
            </a:r>
            <a:r>
              <a:rPr dirty="0" err="1"/>
              <a:t>Nanti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Mission Build, Role Call, </a:t>
            </a:r>
            <a:r>
              <a:rPr dirty="0" err="1"/>
              <a:t>rotasi</a:t>
            </a:r>
            <a:r>
              <a:rPr dirty="0"/>
              <a:t>, dan Bug Hunt.</a:t>
            </a:r>
          </a:p>
          <a:p>
            <a:endParaRPr dirty="0"/>
          </a:p>
          <a:p>
            <a:r>
              <a:rPr dirty="0" err="1"/>
              <a:t>Jangan</a:t>
            </a:r>
            <a:r>
              <a:rPr dirty="0"/>
              <a:t> </a:t>
            </a:r>
            <a:r>
              <a:rPr dirty="0" err="1"/>
              <a:t>terlalu</a:t>
            </a:r>
            <a:r>
              <a:rPr dirty="0"/>
              <a:t> lama di slide </a:t>
            </a:r>
            <a:r>
              <a:rPr dirty="0" err="1"/>
              <a:t>ini</a:t>
            </a:r>
            <a:r>
              <a:rPr dirty="0"/>
              <a:t>. </a:t>
            </a:r>
            <a:r>
              <a:rPr dirty="0" err="1"/>
              <a:t>Tujuannya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membangun</a:t>
            </a:r>
            <a:r>
              <a:rPr dirty="0"/>
              <a:t> </a:t>
            </a:r>
            <a:r>
              <a:rPr dirty="0" err="1"/>
              <a:t>suasana</a:t>
            </a:r>
            <a:r>
              <a:rPr dirty="0"/>
              <a:t> dan </a:t>
            </a:r>
            <a:r>
              <a:rPr dirty="0" err="1"/>
              <a:t>memberi</a:t>
            </a:r>
            <a:r>
              <a:rPr dirty="0"/>
              <a:t> </a:t>
            </a:r>
            <a:r>
              <a:rPr dirty="0" err="1"/>
              <a:t>gambaran</a:t>
            </a:r>
            <a:r>
              <a:rPr dirty="0"/>
              <a:t> </a:t>
            </a:r>
            <a:r>
              <a:rPr dirty="0" err="1"/>
              <a:t>kegiatan</a:t>
            </a:r>
            <a:r>
              <a:rPr dirty="0"/>
              <a:t> </a:t>
            </a:r>
            <a:r>
              <a:rPr dirty="0" err="1"/>
              <a:t>hari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REFLEKSI HASIL PERTEMUAN SEBELUMNYA (±5 menit)</a:t>
            </a:r>
          </a:p>
          <a:p>
            <a:endParaRPr/>
          </a:p>
          <a:p>
            <a:r>
              <a:t>Sampaikan dengan nada positif:</a:t>
            </a:r>
          </a:p>
          <a:p>
            <a:r>
              <a:t>“Kemarin saya melihat pembagian tugasnya sebenarnya sudah mulai berjalan. Kalian juga cukup komunikatif dan ada yang saling membantu setelah tugasnya selesai.”</a:t>
            </a:r>
          </a:p>
          <a:p>
            <a:endParaRPr/>
          </a:p>
          <a:p>
            <a:r>
              <a:t>Lalu masuk ke kendala:</a:t>
            </a:r>
          </a:p>
          <a:p>
            <a:r>
              <a:t>“Tapi saya juga melihat ada dua bagian yang paling sering membuat bingung, yaitu Solution Designer dan Implementer.”</a:t>
            </a:r>
          </a:p>
          <a:p>
            <a:endParaRPr/>
          </a:p>
          <a:p>
            <a:r>
              <a:t>Jelaskan:</a:t>
            </a:r>
          </a:p>
          <a:p>
            <a:r>
              <a:t>- Designer bingung: “Saya harus menulis apa dulu?”</a:t>
            </a:r>
          </a:p>
          <a:p>
            <a:r>
              <a:t>- Implementer bingung: “Dari algoritma ini bagaimana menjadi kode?”</a:t>
            </a:r>
          </a:p>
          <a:p>
            <a:r>
              <a:t>- Array dan for belum benar-benar terhubung di kepala sebagian murid.</a:t>
            </a:r>
          </a:p>
          <a:p>
            <a:r>
              <a:t>- Saat random check, ada murid yang mengikuti kerja kelompok tetapi belum bisa menjelaskan tanggung jawabnya.</a:t>
            </a:r>
          </a:p>
          <a:p>
            <a:endParaRPr/>
          </a:p>
          <a:p>
            <a:r>
              <a:t>Kalimat penutup:</a:t>
            </a:r>
          </a:p>
          <a:p>
            <a:r>
              <a:t>“Jadi hari ini kita perbaiki bagian itu. Bukan karena kalian gagal, tetapi karena dari pertemuan kemarin kita jadi tahu bagian mana yang perlu diperjelas.”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CHALLENGE 1 DAN 2 (±5 menit)</a:t>
            </a:r>
          </a:p>
          <a:p>
            <a:endParaRPr/>
          </a:p>
          <a:p>
            <a:r>
              <a:t>Tanya dulu, jangan langsung jelaskan:</a:t>
            </a:r>
          </a:p>
          <a:p>
            <a:r>
              <a:t>“Challenge 1 kemarin konteksnya apa?”</a:t>
            </a:r>
          </a:p>
          <a:p>
            <a:r>
              <a:t>Harapan: penjualan kantin.</a:t>
            </a:r>
          </a:p>
          <a:p>
            <a:endParaRPr/>
          </a:p>
          <a:p>
            <a:r>
              <a:t>“Challenge 2 konteksnya apa?”</a:t>
            </a:r>
          </a:p>
          <a:p>
            <a:r>
              <a:t>Harapan: pengunjung perpustakaan.</a:t>
            </a:r>
          </a:p>
          <a:p>
            <a:endParaRPr/>
          </a:p>
          <a:p>
            <a:r>
              <a:t>Lalu:</a:t>
            </a:r>
          </a:p>
          <a:p>
            <a:r>
              <a:t>“Kalau kita lihat, apa yang berubah?”</a:t>
            </a:r>
          </a:p>
          <a:p>
            <a:r>
              <a:t>Jawaban yang diharapkan:</a:t>
            </a:r>
          </a:p>
          <a:p>
            <a:r>
              <a:t>- data angkanya</a:t>
            </a:r>
          </a:p>
          <a:p>
            <a:r>
              <a:t>- nama/konteks datanya</a:t>
            </a:r>
          </a:p>
          <a:p>
            <a:endParaRPr/>
          </a:p>
          <a:p>
            <a:r>
              <a:t>“Apa yang tetap sama?”</a:t>
            </a:r>
          </a:p>
          <a:p>
            <a:r>
              <a:t>Arahkan:</a:t>
            </a:r>
          </a:p>
          <a:p>
            <a:r>
              <a:t>- disimpan ke Array</a:t>
            </a:r>
          </a:p>
          <a:p>
            <a:r>
              <a:t>- ditelusuri dengan for</a:t>
            </a:r>
          </a:p>
          <a:p>
            <a:r>
              <a:t>- dihitung total</a:t>
            </a:r>
          </a:p>
          <a:p>
            <a:r>
              <a:t>- dihitung rata-rata</a:t>
            </a:r>
          </a:p>
          <a:p>
            <a:r>
              <a:t>- hasil ditampilkan</a:t>
            </a:r>
          </a:p>
          <a:p>
            <a:endParaRPr/>
          </a:p>
          <a:p>
            <a:r>
              <a:t>Simpulkan:</a:t>
            </a:r>
          </a:p>
          <a:p>
            <a:r>
              <a:t>“Jadi jangan melihat Challenge 2 sebagai program yang sepenuhnya baru. Pola penyelesaiannya sama, yang berubah terutama datanya.”</a:t>
            </a:r>
          </a:p>
          <a:p>
            <a:endParaRPr/>
          </a:p>
          <a:p>
            <a:r>
              <a:t>Tekankan pola di bawah slide:</a:t>
            </a:r>
          </a:p>
          <a:p>
            <a:r>
              <a:t>DATA → ARRAY → total = 0 → FOR → tampilkan + jumlahkan → rata-rata →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EMPAT JOB DESK = SATU ALUR (±4 menit)</a:t>
            </a:r>
          </a:p>
          <a:p>
            <a:endParaRPr/>
          </a:p>
          <a:p>
            <a:r>
              <a:t>Jelaskan bahwa keempat role bukan empat pekerjaan terpisah.</a:t>
            </a:r>
          </a:p>
          <a:p>
            <a:endParaRPr/>
          </a:p>
          <a:p>
            <a:r>
              <a:t>Gunakan kalimat:</a:t>
            </a:r>
          </a:p>
          <a:p>
            <a:r>
              <a:t>“Bayangkan ini seperti estafet. Hasil Analyst dipakai Designer. Hasil Designer dipakai Implementer. Hasil Implementer diperiksa Tester.”</a:t>
            </a:r>
          </a:p>
          <a:p>
            <a:endParaRPr/>
          </a:p>
          <a:p>
            <a:r>
              <a:t>Analyst:</a:t>
            </a:r>
          </a:p>
          <a:p>
            <a:r>
              <a:t>- masalahnya apa?</a:t>
            </a:r>
          </a:p>
          <a:p>
            <a:r>
              <a:t>- datanya apa?</a:t>
            </a:r>
          </a:p>
          <a:p>
            <a:r>
              <a:t>- output yang diminta apa?</a:t>
            </a:r>
          </a:p>
          <a:p>
            <a:r>
              <a:t>- proses yang dibutuhkan apa?</a:t>
            </a:r>
          </a:p>
          <a:p>
            <a:endParaRPr/>
          </a:p>
          <a:p>
            <a:r>
              <a:t>Designer:</a:t>
            </a:r>
          </a:p>
          <a:p>
            <a:r>
              <a:t>- mengubah hasil analisis menjadi langkah-langkah.</a:t>
            </a:r>
          </a:p>
          <a:p>
            <a:endParaRPr/>
          </a:p>
          <a:p>
            <a:r>
              <a:t>Implementer:</a:t>
            </a:r>
          </a:p>
          <a:p>
            <a:r>
              <a:t>- menerjemahkan langkah Designer menjadi sintaks C++.</a:t>
            </a:r>
          </a:p>
          <a:p>
            <a:endParaRPr/>
          </a:p>
          <a:p>
            <a:r>
              <a:t>Tester:</a:t>
            </a:r>
          </a:p>
          <a:p>
            <a:r>
              <a:t>- memprediksi hasil, menjalankan/mengecek, menemukan error, menjelaskan mengapa hasilnya benar.</a:t>
            </a:r>
          </a:p>
          <a:p>
            <a:endParaRPr/>
          </a:p>
          <a:p>
            <a:r>
              <a:t>Tekankan:</a:t>
            </a:r>
          </a:p>
          <a:p>
            <a:r>
              <a:t>“Jadi Implementer tidak seharusnya membuat semuanya dari nol. Ia punya ‘peta jalan’ dari Designer.”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BEDAH SOLUTION DESIGNER (±6 menit)</a:t>
            </a:r>
          </a:p>
          <a:p>
            <a:endParaRPr/>
          </a:p>
          <a:p>
            <a:r>
              <a:t>Ini bagian penting karena kemarin banyak yang bingung.</a:t>
            </a:r>
          </a:p>
          <a:p>
            <a:endParaRPr/>
          </a:p>
          <a:p>
            <a:r>
              <a:t>Mulai dengan:</a:t>
            </a:r>
          </a:p>
          <a:p>
            <a:r>
              <a:t>“Designer belum perlu memikirkan titik koma, kurung kurawal, atau cout. Designer fokus ke LOGIKA.”</a:t>
            </a:r>
          </a:p>
          <a:p>
            <a:endParaRPr/>
          </a:p>
          <a:p>
            <a:r>
              <a:t>Jelaskan langkah satu per satu:</a:t>
            </a:r>
          </a:p>
          <a:p>
            <a:endParaRPr/>
          </a:p>
          <a:p>
            <a:r>
              <a:t>1. Simpan data ke Array.</a:t>
            </a:r>
          </a:p>
          <a:p>
            <a:r>
              <a:t>   “Data yang kita punya harus ditaruh dulu dalam satu wadah Array.”</a:t>
            </a:r>
          </a:p>
          <a:p>
            <a:endParaRPr/>
          </a:p>
          <a:p>
            <a:r>
              <a:t>2. total = 0.</a:t>
            </a:r>
          </a:p>
          <a:p>
            <a:r>
              <a:t>   “Kenapa 0? Karena total adalah penampung penjumlahan. Kalau mulai dari 1, hasil akhirnya akan kelebihan 1.”</a:t>
            </a:r>
          </a:p>
          <a:p>
            <a:endParaRPr/>
          </a:p>
          <a:p>
            <a:r>
              <a:t>3. Perulangan indeks 0 sampai 4.</a:t>
            </a:r>
          </a:p>
          <a:p>
            <a:r>
              <a:t>   “Karena ada 5 elemen, indeksnya 0,1,2,3,4.”</a:t>
            </a:r>
          </a:p>
          <a:p>
            <a:endParaRPr/>
          </a:p>
          <a:p>
            <a:r>
              <a:t>4. Di setiap perulangan:</a:t>
            </a:r>
          </a:p>
          <a:p>
            <a:r>
              <a:t>   - tampilkan data</a:t>
            </a:r>
          </a:p>
          <a:p>
            <a:r>
              <a:t>   - tambahkan data ke total</a:t>
            </a:r>
          </a:p>
          <a:p>
            <a:endParaRPr/>
          </a:p>
          <a:p>
            <a:r>
              <a:t>5. Setelah loop:</a:t>
            </a:r>
          </a:p>
          <a:p>
            <a:r>
              <a:t>   - hitung rata-rata</a:t>
            </a:r>
          </a:p>
          <a:p>
            <a:endParaRPr/>
          </a:p>
          <a:p>
            <a:r>
              <a:t>6. Tampilkan hasil.</a:t>
            </a:r>
          </a:p>
          <a:p>
            <a:endParaRPr/>
          </a:p>
          <a:p>
            <a:r>
              <a:t>Tekankan:</a:t>
            </a:r>
          </a:p>
          <a:p>
            <a:r>
              <a:t>“Produk Designer adalah urutan langkah yang cukup jelas sehingga Implementer tahu apa yang harus ditulis.”</a:t>
            </a:r>
          </a:p>
          <a:p>
            <a:endParaRPr/>
          </a:p>
          <a:p>
            <a:r>
              <a:t>Saat menunjukkan starter, bilang:</a:t>
            </a:r>
          </a:p>
          <a:p>
            <a:r>
              <a:t>“Hari ini kalian tidak diberi halaman kosong lagi. Kalian tinggal melengkapi kerangka supaya tahu harus mulai dari mana.”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BEDAH IMPLEMENTER (±8 menit)</a:t>
            </a:r>
          </a:p>
          <a:p>
            <a:endParaRPr/>
          </a:p>
          <a:p>
            <a:r>
              <a:t>Tujuan: menghubungkan langkah Designer ke kode.</a:t>
            </a:r>
          </a:p>
          <a:p>
            <a:endParaRPr/>
          </a:p>
          <a:p>
            <a:r>
              <a:t>Baca pelan-pelan:</a:t>
            </a:r>
          </a:p>
          <a:p>
            <a:endParaRPr/>
          </a:p>
          <a:p>
            <a:r>
              <a:t>int penjualan[5] = {...};</a:t>
            </a:r>
          </a:p>
          <a:p>
            <a:r>
              <a:t>“Ini menerjemahkan langkah Designer: simpan 5 data penjualan ke Array.”</a:t>
            </a:r>
          </a:p>
          <a:p>
            <a:endParaRPr/>
          </a:p>
          <a:p>
            <a:r>
              <a:t>int total = 0;</a:t>
            </a:r>
          </a:p>
          <a:p>
            <a:r>
              <a:t>“Ini menerjemahkan: siapkan penampung total dan mulai dari nol.”</a:t>
            </a:r>
          </a:p>
          <a:p>
            <a:endParaRPr/>
          </a:p>
          <a:p>
            <a:r>
              <a:t>for(int i = 0; i &lt; 5; i++)</a:t>
            </a:r>
          </a:p>
          <a:p>
            <a:r>
              <a:t>“i adalah variabel kontrol/pencacah. Nilainya 0,1,2,3,4. Dalam Array, i juga dipakai sebagai indeks.”</a:t>
            </a:r>
          </a:p>
          <a:p>
            <a:endParaRPr/>
          </a:p>
          <a:p>
            <a:r>
              <a:t>Kalau siswa bertanya kenapa i &lt; 5:</a:t>
            </a:r>
          </a:p>
          <a:p>
            <a:r>
              <a:t>“Karena indeks yang valid hanya 0–4. Kalau i &lt;= 5, nanti mencoba mengakses penjualan[5], padahal elemen itu tidak ada.”</a:t>
            </a:r>
          </a:p>
          <a:p>
            <a:endParaRPr/>
          </a:p>
          <a:p>
            <a:r>
              <a:t>cout &lt;&lt; penjualan[i]</a:t>
            </a:r>
          </a:p>
          <a:p>
            <a:r>
              <a:t>“Menampilkan elemen yang sedang dibaca.”</a:t>
            </a:r>
          </a:p>
          <a:p>
            <a:endParaRPr/>
          </a:p>
          <a:p>
            <a:r>
              <a:t>total += penjualan[i]</a:t>
            </a:r>
          </a:p>
          <a:p>
            <a:r>
              <a:t>INI PERLU DIJELASKAN PELAN:</a:t>
            </a:r>
          </a:p>
          <a:p>
            <a:r>
              <a:t>“Bentuk panjangnya adalah total = total + penjualan[i].”</a:t>
            </a:r>
          </a:p>
          <a:p>
            <a:r>
              <a:t>“Total sebelah kanan = nilai total yang lama.”</a:t>
            </a:r>
          </a:p>
          <a:p>
            <a:r>
              <a:t>“Total sebelah kiri = tempat menyimpan hasil total yang baru.”</a:t>
            </a:r>
          </a:p>
          <a:p>
            <a:endParaRPr/>
          </a:p>
          <a:p>
            <a:r>
              <a:t>Contoh:</a:t>
            </a:r>
          </a:p>
          <a:p>
            <a:r>
              <a:t>awal total = 0</a:t>
            </a:r>
          </a:p>
          <a:p>
            <a:r>
              <a:t>i=0 → 0 + 120 = 120</a:t>
            </a:r>
          </a:p>
          <a:p>
            <a:r>
              <a:t>i=1 → 120 + 150 = 270</a:t>
            </a:r>
          </a:p>
          <a:p>
            <a:r>
              <a:t>dan seterusnya.</a:t>
            </a:r>
          </a:p>
          <a:p>
            <a:endParaRPr/>
          </a:p>
          <a:p>
            <a:r>
              <a:t>float rata = total / 5.0;</a:t>
            </a:r>
          </a:p>
          <a:p>
            <a:r>
              <a:t>“Jumlah data ada 5. Kita gunakan 5.0 supaya pembagian bisa menghasilkan desimal jika memang hasilnya tidak bulat.”</a:t>
            </a:r>
          </a:p>
          <a:p>
            <a:endParaRPr/>
          </a:p>
          <a:p>
            <a:r>
              <a:t>Kalimat penutup:</a:t>
            </a:r>
          </a:p>
          <a:p>
            <a:r>
              <a:t>“Jadi Implementer tidak menebak-nebak. Setiap baris kode sebenarnya berasal dari langkah yang sudah dibuat Designer.”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HUMAN ARRAY (±8 menit)</a:t>
            </a:r>
          </a:p>
          <a:p>
            <a:endParaRPr/>
          </a:p>
          <a:p>
            <a:r>
              <a:t>Tujuannya membuat hubungan indeks dan for lebih visual dan membuat murid bergerak.</a:t>
            </a:r>
          </a:p>
          <a:p>
            <a:endParaRPr/>
          </a:p>
          <a:p>
            <a:r>
              <a:t>Panggil 5 murid ke depan.</a:t>
            </a:r>
          </a:p>
          <a:p>
            <a:r>
              <a:t>Berikan angka: 10, 20, 30, 40, 50.</a:t>
            </a:r>
          </a:p>
          <a:p>
            <a:r>
              <a:t>Posisikan sebagai indeks [0], [1], [2], [3], [4].</a:t>
            </a:r>
          </a:p>
          <a:p>
            <a:endParaRPr/>
          </a:p>
          <a:p>
            <a:r>
              <a:t>Tanya kelas:</a:t>
            </a:r>
          </a:p>
          <a:p>
            <a:r>
              <a:t>“Kalau data[2], siapa?”</a:t>
            </a:r>
          </a:p>
          <a:p>
            <a:r>
              <a:t>Jawaban: murid dengan nilai 30.</a:t>
            </a:r>
          </a:p>
          <a:p>
            <a:endParaRPr/>
          </a:p>
          <a:p>
            <a:r>
              <a:t>“Kalau data[4]?”</a:t>
            </a:r>
          </a:p>
          <a:p>
            <a:r>
              <a:t>Jawaban: 50.</a:t>
            </a:r>
          </a:p>
          <a:p>
            <a:endParaRPr/>
          </a:p>
          <a:p>
            <a:r>
              <a:t>“Kalau data[5]?”</a:t>
            </a:r>
          </a:p>
          <a:p>
            <a:r>
              <a:t>Jawaban: tidak ada / di luar batas Array.</a:t>
            </a:r>
          </a:p>
          <a:p>
            <a:endParaRPr/>
          </a:p>
          <a:p>
            <a:r>
              <a:t>Lalu simulasi:</a:t>
            </a:r>
          </a:p>
          <a:p>
            <a:r>
              <a:t>for(int i=0; i&lt;5; i++)</a:t>
            </a:r>
          </a:p>
          <a:p>
            <a:endParaRPr/>
          </a:p>
          <a:p>
            <a:r>
              <a:t>Panggil:</a:t>
            </a:r>
          </a:p>
          <a:p>
            <a:r>
              <a:t>i=0 → murid indeks 0 angkat tangan</a:t>
            </a:r>
          </a:p>
          <a:p>
            <a:r>
              <a:t>i=1 → indeks 1</a:t>
            </a:r>
          </a:p>
          <a:p>
            <a:r>
              <a:t>...</a:t>
            </a:r>
          </a:p>
          <a:p>
            <a:r>
              <a:t>i=4 → indeks 4</a:t>
            </a:r>
          </a:p>
          <a:p>
            <a:endParaRPr/>
          </a:p>
          <a:p>
            <a:r>
              <a:t>Tanya:</a:t>
            </a:r>
          </a:p>
          <a:p>
            <a:r>
              <a:t>“Kenapa berhenti setelah 4?”</a:t>
            </a:r>
          </a:p>
          <a:p>
            <a:r>
              <a:t>Harapan: karena 5 elemen dimulai dari indeks 0.</a:t>
            </a:r>
          </a:p>
          <a:p>
            <a:endParaRPr/>
          </a:p>
          <a:p>
            <a:r>
              <a:t>Jangan terlalu lama. Fokus pada satu pesan: i berjalan mengikuti indeks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ATURAN ARRAY MISSION RELAY (±4 menit)</a:t>
            </a:r>
          </a:p>
          <a:p>
            <a:endParaRPr/>
          </a:p>
          <a:p>
            <a:r>
              <a:t>Sampaikan aturan dengan tegas karena ini perbaikan dari Siklus I.</a:t>
            </a:r>
          </a:p>
          <a:p>
            <a:endParaRPr/>
          </a:p>
          <a:p>
            <a:r>
              <a:t>1. Satu challenge = empat role yang saling terhubung.</a:t>
            </a:r>
          </a:p>
          <a:p>
            <a:r>
              <a:t>2. Tidak boleh membagi Challenge 1 untuk dua orang dan Challenge 2 untuk dua orang.</a:t>
            </a:r>
          </a:p>
          <a:p>
            <a:r>
              <a:t>3. Boleh membantu, tapi tidak boleh mengambil alih seluruh pekerjaan teman.</a:t>
            </a:r>
          </a:p>
          <a:p>
            <a:r>
              <a:t>4. Semua role harus meninggalkan bukti kerja di card masing-masing.</a:t>
            </a:r>
          </a:p>
          <a:p>
            <a:r>
              <a:t>5. Timer habis = STOP, walaupun belum selesai.</a:t>
            </a:r>
          </a:p>
          <a:p>
            <a:r>
              <a:t>6. Sebelum rotasi ada handover singkat.</a:t>
            </a:r>
          </a:p>
          <a:p>
            <a:r>
              <a:t>7. Siapa pun bisa dipanggil saat Role Call.</a:t>
            </a:r>
          </a:p>
          <a:p>
            <a:endParaRPr/>
          </a:p>
          <a:p>
            <a:r>
              <a:t>Tekankan:</a:t>
            </a:r>
          </a:p>
          <a:p>
            <a:r>
              <a:t>“Yang saya lihat bukan siapa paling cepat menyelesaikan program. Yang saya lihat adalah apakah setiap orang benar-benar menjalankan tanggung jawabnya.”</a:t>
            </a:r>
          </a:p>
          <a:p>
            <a:endParaRPr/>
          </a:p>
          <a:p>
            <a:r>
              <a:t>Jika memberi apresiasi:</a:t>
            </a:r>
          </a:p>
          <a:p>
            <a:r>
              <a:t>“Apresiasi diberikan untuk kontribusi paling merata dan rotasi paling baik, bukan coding tercepat.”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MISSION BUILD – FESTIVAL SEKOLAH (±22 menit)</a:t>
            </a:r>
          </a:p>
          <a:p>
            <a:endParaRPr/>
          </a:p>
          <a:p>
            <a:r>
              <a:t>Kasus:</a:t>
            </a:r>
          </a:p>
          <a:p>
            <a:r>
              <a:t>40, 55, 48, 63, 54</a:t>
            </a:r>
          </a:p>
          <a:p>
            <a:endParaRPr/>
          </a:p>
          <a:p>
            <a:r>
              <a:t>Jangan langsung memberi jawaban total/rata-rata.</a:t>
            </a:r>
          </a:p>
          <a:p>
            <a:endParaRPr/>
          </a:p>
          <a:p>
            <a:r>
              <a:t>Instruksi:</a:t>
            </a:r>
          </a:p>
          <a:p>
            <a:r>
              <a:t>“Sekarang mulai sesuai card masing-masing. Semua orang bekerja, tetapi tetap saling berkomunikasi.”</a:t>
            </a:r>
          </a:p>
          <a:p>
            <a:endParaRPr/>
          </a:p>
          <a:p>
            <a:r>
              <a:t>Analyst:</a:t>
            </a:r>
          </a:p>
          <a:p>
            <a:r>
              <a:t>- data</a:t>
            </a:r>
          </a:p>
          <a:p>
            <a:r>
              <a:t>- jumlah elemen</a:t>
            </a:r>
          </a:p>
          <a:p>
            <a:r>
              <a:t>- output</a:t>
            </a:r>
          </a:p>
          <a:p>
            <a:r>
              <a:t>- proses</a:t>
            </a:r>
          </a:p>
          <a:p>
            <a:endParaRPr/>
          </a:p>
          <a:p>
            <a:r>
              <a:t>Designer:</a:t>
            </a:r>
          </a:p>
          <a:p>
            <a:r>
              <a:t>- lengkapi starter algoritma</a:t>
            </a:r>
          </a:p>
          <a:p>
            <a:r>
              <a:t>- belum menulis kode lengkap</a:t>
            </a:r>
          </a:p>
          <a:p>
            <a:endParaRPr/>
          </a:p>
          <a:p>
            <a:r>
              <a:t>Implementer:</a:t>
            </a:r>
          </a:p>
          <a:p>
            <a:r>
              <a:t>- isi code skeleton berdasarkan hasil Designer</a:t>
            </a:r>
          </a:p>
          <a:p>
            <a:endParaRPr/>
          </a:p>
          <a:p>
            <a:r>
              <a:t>Tester:</a:t>
            </a:r>
          </a:p>
          <a:p>
            <a:r>
              <a:t>- hitung prediksi manual</a:t>
            </a:r>
          </a:p>
          <a:p>
            <a:r>
              <a:t>- cek indeks, loop, total, rata-rata</a:t>
            </a:r>
          </a:p>
          <a:p>
            <a:endParaRPr/>
          </a:p>
          <a:p>
            <a:r>
              <a:t>Saat berkeliling gunakan pertanyaan pemandu:</a:t>
            </a:r>
          </a:p>
          <a:p>
            <a:r>
              <a:t>Analyst: “Data dan outputnya apa?”</a:t>
            </a:r>
          </a:p>
          <a:p>
            <a:r>
              <a:t>Designer: “Sebelum rata-rata, apa yang harus didapat dulu?”</a:t>
            </a:r>
          </a:p>
          <a:p>
            <a:r>
              <a:t>Implementer: “Langkah Designer yang mana yang sedang kamu terjemahkan?”</a:t>
            </a:r>
          </a:p>
          <a:p>
            <a:r>
              <a:t>Tester: “Sebelum program dijalankan, berapa total yang seharusnya?”</a:t>
            </a:r>
          </a:p>
          <a:p>
            <a:endParaRPr/>
          </a:p>
          <a:p>
            <a:r>
              <a:t>Kunci guru (jangan langsung diberikan):</a:t>
            </a:r>
          </a:p>
          <a:p>
            <a:r>
              <a:t>Total = 260</a:t>
            </a:r>
          </a:p>
          <a:p>
            <a:r>
              <a:t>Rata-rata = 52</a:t>
            </a:r>
          </a:p>
          <a:p>
            <a:endParaRPr/>
          </a:p>
          <a:p>
            <a:r>
              <a:t>Sisa 5 menit:</a:t>
            </a:r>
          </a:p>
          <a:p>
            <a:r>
              <a:t>“Lima menit lagi. Pastikan card kalian punya bukti pekerjaan.”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STOP + ROLE CALL (±7 menit)</a:t>
            </a:r>
          </a:p>
          <a:p>
            <a:endParaRPr/>
          </a:p>
          <a:p>
            <a:r>
              <a:t>Saat timer habis:</a:t>
            </a:r>
          </a:p>
          <a:p>
            <a:r>
              <a:t>“STOP. Jangan lanjut coding dulu.”</a:t>
            </a:r>
          </a:p>
          <a:p>
            <a:endParaRPr/>
          </a:p>
          <a:p>
            <a:r>
              <a:t>Ini checkpoint PTK dan mini quiz.</a:t>
            </a:r>
          </a:p>
          <a:p>
            <a:endParaRPr/>
          </a:p>
          <a:p>
            <a:r>
              <a:t>Panggil role, bukan hanya siswa tertentu:</a:t>
            </a:r>
          </a:p>
          <a:p>
            <a:r>
              <a:t>“Semua Analyst berdiri.”</a:t>
            </a:r>
          </a:p>
          <a:p>
            <a:r>
              <a:t>Pilih 1–2 secara acak.</a:t>
            </a:r>
          </a:p>
          <a:p>
            <a:r>
              <a:t>Tanya:</a:t>
            </a:r>
          </a:p>
          <a:p>
            <a:r>
              <a:t>- data apa?</a:t>
            </a:r>
          </a:p>
          <a:p>
            <a:r>
              <a:t>- output apa?</a:t>
            </a:r>
          </a:p>
          <a:p>
            <a:r>
              <a:t>- proses utamanya apa?</a:t>
            </a:r>
          </a:p>
          <a:p>
            <a:endParaRPr/>
          </a:p>
          <a:p>
            <a:r>
              <a:t>“Semua Designer berdiri.”</a:t>
            </a:r>
          </a:p>
          <a:p>
            <a:r>
              <a:t>Tanya:</a:t>
            </a:r>
          </a:p>
          <a:p>
            <a:r>
              <a:t>- langkah apa yang kamu susun?</a:t>
            </a:r>
          </a:p>
          <a:p>
            <a:r>
              <a:t>- bagian mana yang nanti menjadi for?</a:t>
            </a:r>
          </a:p>
          <a:p>
            <a:endParaRPr/>
          </a:p>
          <a:p>
            <a:r>
              <a:t>Implementer:</a:t>
            </a:r>
          </a:p>
          <a:p>
            <a:r>
              <a:t>- bagian kode mana yang kamu isi?</a:t>
            </a:r>
          </a:p>
          <a:p>
            <a:r>
              <a:t>- apa arti total += data[i]?</a:t>
            </a:r>
          </a:p>
          <a:p>
            <a:endParaRPr/>
          </a:p>
          <a:p>
            <a:r>
              <a:t>Tester:</a:t>
            </a:r>
          </a:p>
          <a:p>
            <a:r>
              <a:t>- berapa prediksi total/rata-rata?</a:t>
            </a:r>
          </a:p>
          <a:p>
            <a:r>
              <a:t>- apa yang kamu cek?</a:t>
            </a:r>
          </a:p>
          <a:p>
            <a:endParaRPr/>
          </a:p>
          <a:p>
            <a:r>
              <a:t>Penting:</a:t>
            </a:r>
          </a:p>
          <a:p>
            <a:r>
              <a:t>Tidak harus mengecek semua murid. Yang tidak sempat ditanya bukan berarti nilainya 0. Gunakan bukti card + observasi + random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ROTASI + HANDOVER (±4 menit)</a:t>
            </a:r>
          </a:p>
          <a:p>
            <a:endParaRPr/>
          </a:p>
          <a:p>
            <a:r>
              <a:t>Jangan sekadar tukar kartu.</a:t>
            </a:r>
          </a:p>
          <a:p>
            <a:endParaRPr/>
          </a:p>
          <a:p>
            <a:r>
              <a:t>Urutan:</a:t>
            </a:r>
          </a:p>
          <a:p>
            <a:r>
              <a:t>Analyst → Designer</a:t>
            </a:r>
          </a:p>
          <a:p>
            <a:r>
              <a:t>Designer → Implementer</a:t>
            </a:r>
          </a:p>
          <a:p>
            <a:r>
              <a:t>Implementer → Tester</a:t>
            </a:r>
          </a:p>
          <a:p>
            <a:r>
              <a:t>Tester → Analyst</a:t>
            </a:r>
          </a:p>
          <a:p>
            <a:endParaRPr/>
          </a:p>
          <a:p>
            <a:r>
              <a:t>Instruksi:</a:t>
            </a:r>
          </a:p>
          <a:p>
            <a:r>
              <a:t>“Kalian punya sekitar 30 detik untuk menjelaskan kepada pemegang role berikutnya:</a:t>
            </a:r>
          </a:p>
          <a:p>
            <a:r>
              <a:t>1. Apa yang sudah saya kerjakan.</a:t>
            </a:r>
          </a:p>
          <a:p>
            <a:r>
              <a:t>2. Apa yang perlu dilanjutkan/diperhatikan.”</a:t>
            </a:r>
          </a:p>
          <a:p>
            <a:endParaRPr/>
          </a:p>
          <a:p>
            <a:r>
              <a:t>Setelah itu card berpindah bersama role.</a:t>
            </a:r>
          </a:p>
          <a:p>
            <a:endParaRPr/>
          </a:p>
          <a:p>
            <a:r>
              <a:t>Tekankan:</a:t>
            </a:r>
          </a:p>
          <a:p>
            <a:r>
              <a:t>“Role baru artinya kalian harus menjalankan tanggung jawab baru. Jangan minta pemegang sebelumnya tetap mengerjakannya.”</a:t>
            </a:r>
          </a:p>
          <a:p>
            <a:endParaRPr/>
          </a:p>
          <a:p>
            <a:r>
              <a:t>Ini penting untuk melihat apakah rotasi benar-benar terjadi.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BUG HUNT – RONDE 2 (±18 menit)</a:t>
            </a:r>
          </a:p>
          <a:p>
            <a:endParaRPr/>
          </a:p>
          <a:p>
            <a:r>
              <a:t>Jelaskan konsep dulu:</a:t>
            </a:r>
          </a:p>
          <a:p>
            <a:r>
              <a:t>“Sekarang kalian tidak membuat program baru dari nol. Kalian menjadi pemburu bug.”</a:t>
            </a:r>
          </a:p>
          <a:p>
            <a:endParaRPr/>
          </a:p>
          <a:p>
            <a:r>
              <a:t>Tampilkan kode salah.</a:t>
            </a:r>
          </a:p>
          <a:p>
            <a:endParaRPr/>
          </a:p>
          <a:p>
            <a:r>
              <a:t>Minta mereka menemukan minimal 3 masalah.</a:t>
            </a:r>
          </a:p>
          <a:p>
            <a:endParaRPr/>
          </a:p>
          <a:p>
            <a:r>
              <a:t>Jangan langsung menyebut lokasinya.</a:t>
            </a:r>
          </a:p>
          <a:p>
            <a:endParaRPr/>
          </a:p>
          <a:p>
            <a:r>
              <a:t>Arahkan sesuai role baru:</a:t>
            </a:r>
          </a:p>
          <a:p>
            <a:endParaRPr/>
          </a:p>
          <a:p>
            <a:r>
              <a:t>Analyst:</a:t>
            </a:r>
          </a:p>
          <a:p>
            <a:r>
              <a:t>“Apa seharusnya program ini lakukan? Apakah data/outputnya masuk akal?”</a:t>
            </a:r>
          </a:p>
          <a:p>
            <a:endParaRPr/>
          </a:p>
          <a:p>
            <a:r>
              <a:t>Designer:</a:t>
            </a:r>
          </a:p>
          <a:p>
            <a:r>
              <a:t>“Cocokkan kode dengan langkah algoritma. Bagian mana yang tidak sesuai?”</a:t>
            </a:r>
          </a:p>
          <a:p>
            <a:endParaRPr/>
          </a:p>
          <a:p>
            <a:r>
              <a:t>Implementer:</a:t>
            </a:r>
          </a:p>
          <a:p>
            <a:r>
              <a:t>“Perbaiki baris kode yang salah.”</a:t>
            </a:r>
          </a:p>
          <a:p>
            <a:endParaRPr/>
          </a:p>
          <a:p>
            <a:r>
              <a:t>Tester:</a:t>
            </a:r>
          </a:p>
          <a:p>
            <a:r>
              <a:t>“Hitung manual dulu. Setelah diperbaiki, cocokkan hasilnya.”</a:t>
            </a:r>
          </a:p>
          <a:p>
            <a:endParaRPr/>
          </a:p>
          <a:p>
            <a:r>
              <a:t>Jika kelompok buntu, beri pertanyaan:</a:t>
            </a:r>
          </a:p>
          <a:p>
            <a:r>
              <a:t>- “Total seharusnya mulai dari berapa?”</a:t>
            </a:r>
          </a:p>
          <a:p>
            <a:r>
              <a:t>- “Array punya 5 elemen, indeks terakhirnya berapa?”</a:t>
            </a:r>
          </a:p>
          <a:p>
            <a:r>
              <a:t>- “Jumlah data ada berapa untuk pembagi rata-rata?”</a:t>
            </a:r>
          </a:p>
          <a:p>
            <a:endParaRPr/>
          </a:p>
          <a:p>
            <a:r>
              <a:t>Kunci guru:</a:t>
            </a:r>
          </a:p>
          <a:p>
            <a:r>
              <a:t>Bug 1: total = 1 → total = 0</a:t>
            </a:r>
          </a:p>
          <a:p>
            <a:r>
              <a:t>Bug 2: i &lt;= 5 → i &lt; 5</a:t>
            </a:r>
          </a:p>
          <a:p>
            <a:r>
              <a:t>Bug 3: total / 4.0 → total / 5.0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PEMBAHASAN BUG HUNT (±5 menit)</a:t>
            </a:r>
          </a:p>
          <a:p>
            <a:endParaRPr/>
          </a:p>
          <a:p>
            <a:r>
              <a:t>Baru tampilkan setelah waktu selesai.</a:t>
            </a:r>
          </a:p>
          <a:p>
            <a:endParaRPr/>
          </a:p>
          <a:p>
            <a:r>
              <a:t>Bug 1:</a:t>
            </a:r>
          </a:p>
          <a:p>
            <a:r>
              <a:t>int total = 1;</a:t>
            </a:r>
          </a:p>
          <a:p>
            <a:r>
              <a:t>→ harus 0.</a:t>
            </a:r>
          </a:p>
          <a:p>
            <a:r>
              <a:t>Jelaskan: 0 adalah nilai awal netral untuk penjumlahan.</a:t>
            </a:r>
          </a:p>
          <a:p>
            <a:endParaRPr/>
          </a:p>
          <a:p>
            <a:r>
              <a:t>Bug 2:</a:t>
            </a:r>
          </a:p>
          <a:p>
            <a:r>
              <a:t>i &lt;= 5</a:t>
            </a:r>
          </a:p>
          <a:p>
            <a:r>
              <a:t>→ i &lt; 5.</a:t>
            </a:r>
          </a:p>
          <a:p>
            <a:r>
              <a:t>Jelaskan: indeks valid 0–4.</a:t>
            </a:r>
          </a:p>
          <a:p>
            <a:endParaRPr/>
          </a:p>
          <a:p>
            <a:r>
              <a:t>Bug 3:</a:t>
            </a:r>
          </a:p>
          <a:p>
            <a:r>
              <a:t>total / 4.0</a:t>
            </a:r>
          </a:p>
          <a:p>
            <a:r>
              <a:t>→ total / 5.0.</a:t>
            </a:r>
          </a:p>
          <a:p>
            <a:r>
              <a:t>Jelaskan: ada 5 data.</a:t>
            </a:r>
          </a:p>
          <a:p>
            <a:endParaRPr/>
          </a:p>
          <a:p>
            <a:r>
              <a:t>Tanya kelas:</a:t>
            </a:r>
          </a:p>
          <a:p>
            <a:r>
              <a:t>“Kalau kita punya 6 elemen, batas for yang paling mudah ditulis bagaimana?”</a:t>
            </a:r>
          </a:p>
          <a:p>
            <a:r>
              <a:t>Harapan: i &lt; 6.</a:t>
            </a:r>
          </a:p>
          <a:p>
            <a:r>
              <a:t>(Boleh i &lt;= 5, tetapi biasakan i &lt; jumlahElemen.)</a:t>
            </a:r>
          </a:p>
          <a:p>
            <a:endParaRPr/>
          </a:p>
          <a:p>
            <a:r>
              <a:t>Jangan hanya memberi jawaban. Minta mereka menjelaskan alasan setiap perbaikan.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RANDOM CHECK 2 (±8 menit)</a:t>
            </a:r>
          </a:p>
          <a:p>
            <a:endParaRPr/>
          </a:p>
          <a:p>
            <a:r>
              <a:t>Fokus kali ini pada kontribusi setelah rotasi.</a:t>
            </a:r>
          </a:p>
          <a:p>
            <a:endParaRPr/>
          </a:p>
          <a:p>
            <a:r>
              <a:t>Pilih beberapa murid/kelompok.</a:t>
            </a:r>
          </a:p>
          <a:p>
            <a:endParaRPr/>
          </a:p>
          <a:p>
            <a:r>
              <a:t>Pertanyaan:</a:t>
            </a:r>
          </a:p>
          <a:p>
            <a:r>
              <a:t>“Job desk kamu setelah rotasi apa?”</a:t>
            </a:r>
          </a:p>
          <a:p>
            <a:r>
              <a:t>“Apa yang kamu terima saat handover?”</a:t>
            </a:r>
          </a:p>
          <a:p>
            <a:r>
              <a:t>“Apa yang kamu kerjakan sendiri?”</a:t>
            </a:r>
          </a:p>
          <a:p>
            <a:r>
              <a:t>“Bug/perbaikan apa yang kamu tangani?”</a:t>
            </a:r>
          </a:p>
          <a:p>
            <a:r>
              <a:t>“Mengapa bagian itu salah?”</a:t>
            </a:r>
          </a:p>
          <a:p>
            <a:endParaRPr/>
          </a:p>
          <a:p>
            <a:r>
              <a:t>Tujuan:</a:t>
            </a:r>
          </a:p>
          <a:p>
            <a:r>
              <a:t>- mengecek pemahaman individu</a:t>
            </a:r>
          </a:p>
          <a:p>
            <a:r>
              <a:t>- memastikan rotasi benar-benar terjadi</a:t>
            </a:r>
          </a:p>
          <a:p>
            <a:r>
              <a:t>- membedakan siswa yang sekadar ikut hasil kelompok dengan siswa yang memahami kontribusinya</a:t>
            </a:r>
          </a:p>
          <a:p>
            <a:endParaRPr/>
          </a:p>
          <a:p>
            <a:r>
              <a:t>Jika siswa belum bisa menjawab, jangan mempermalukan.</a:t>
            </a:r>
          </a:p>
          <a:p>
            <a:r>
              <a:t>Bisa bantu:</a:t>
            </a:r>
          </a:p>
          <a:p>
            <a:r>
              <a:t>“Coba lihat card-mu. Bagian mana yang kamu isi?”</a:t>
            </a:r>
          </a:p>
          <a:p>
            <a:r>
              <a:t>Lalu beri kesempatan menjelaskan ulang.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REFLEKSI KELOMPOK (±8 menit)</a:t>
            </a:r>
          </a:p>
          <a:p>
            <a:endParaRPr/>
          </a:p>
          <a:p>
            <a:r>
              <a:t>Diskusi sekitar 2 menit dulu sebelum beberapa kelompok menjawab.</a:t>
            </a:r>
          </a:p>
          <a:p>
            <a:endParaRPr/>
          </a:p>
          <a:p>
            <a:r>
              <a:t>Pertanyaan:</a:t>
            </a:r>
          </a:p>
          <a:p>
            <a:r>
              <a:t>1. Apakah starter Designer membantu?</a:t>
            </a:r>
          </a:p>
          <a:p>
            <a:r>
              <a:t>2. Apakah code skeleton membuat Implementer lebih mudah memulai?</a:t>
            </a:r>
          </a:p>
          <a:p>
            <a:r>
              <a:t>3. Apakah handover membantu menerima role baru?</a:t>
            </a:r>
          </a:p>
          <a:p>
            <a:r>
              <a:t>4. Masih ada tidak pekerjaan yang diambil alih satu orang?</a:t>
            </a:r>
          </a:p>
          <a:p>
            <a:endParaRPr/>
          </a:p>
          <a:p>
            <a:r>
              <a:t>Tekankan:</a:t>
            </a:r>
          </a:p>
          <a:p>
            <a:r>
              <a:t>“Program benar belum tentu berarti semua anggota aktif.”</a:t>
            </a:r>
          </a:p>
          <a:p>
            <a:endParaRPr/>
          </a:p>
          <a:p>
            <a:r>
              <a:t>Target PTK:</a:t>
            </a:r>
          </a:p>
          <a:p>
            <a:r>
              <a:t>- tanggung jawab jelas</a:t>
            </a:r>
          </a:p>
          <a:p>
            <a:r>
              <a:t>- kontribusi terlihat</a:t>
            </a:r>
          </a:p>
          <a:p>
            <a:r>
              <a:t>- komunikasi terjadi</a:t>
            </a:r>
          </a:p>
          <a:p>
            <a:r>
              <a:t>- setiap individu dapat menjelaskan bagiannya</a:t>
            </a:r>
          </a:p>
          <a:p>
            <a:endParaRPr/>
          </a:p>
          <a:p>
            <a:r>
              <a:t>Catat jawaban yang menarik sebagai bahan refleksi Siklus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EXIT TICKET (±6 menit)</a:t>
            </a:r>
          </a:p>
          <a:p>
            <a:endParaRPr/>
          </a:p>
          <a:p>
            <a:r>
              <a:t>Instruksi:</a:t>
            </a:r>
          </a:p>
          <a:p>
            <a:r>
              <a:t>“Isi sendiri. Tidak perlu diskusi. Jawab apa adanya.”</a:t>
            </a:r>
          </a:p>
          <a:p>
            <a:endParaRPr/>
          </a:p>
          <a:p>
            <a:r>
              <a:t>Jelaskan tiap butir bila perlu:</a:t>
            </a:r>
          </a:p>
          <a:p>
            <a:r>
              <a:t>- task pertama</a:t>
            </a:r>
          </a:p>
          <a:p>
            <a:r>
              <a:t>- task setelah rotasi</a:t>
            </a:r>
          </a:p>
          <a:p>
            <a:r>
              <a:t>- kontribusi nyata</a:t>
            </a:r>
          </a:p>
          <a:p>
            <a:r>
              <a:t>- apakah scaffolding membantu</a:t>
            </a:r>
          </a:p>
          <a:p>
            <a:r>
              <a:t>- pemahaman Array + for</a:t>
            </a:r>
          </a:p>
          <a:p>
            <a:r>
              <a:t>- kesulitan yang masih tersisa</a:t>
            </a:r>
          </a:p>
          <a:p>
            <a:endParaRPr/>
          </a:p>
          <a:p>
            <a:r>
              <a:t>Tekankan:</a:t>
            </a:r>
          </a:p>
          <a:p>
            <a:r>
              <a:t>“Ini bukan mencari jawaban paling bagus. Saya ingin tahu apa yang benar-benar kalian rasakan dan pahami.”</a:t>
            </a:r>
          </a:p>
          <a:p>
            <a:endParaRPr/>
          </a:p>
          <a:p>
            <a:r>
              <a:t>Exit ticket = data pendukung/refleksi, bukan satu-satunya skor keaktifan.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PENUTUP (±2 menit)</a:t>
            </a:r>
          </a:p>
          <a:p>
            <a:endParaRPr/>
          </a:p>
          <a:p>
            <a:r>
              <a:t>Simpulkan dengan singkat:</a:t>
            </a:r>
          </a:p>
          <a:p>
            <a:r>
              <a:t>“Sekarang kita bisa lihat bahwa membuat program bukan hanya soal langsung coding.”</a:t>
            </a:r>
          </a:p>
          <a:p>
            <a:endParaRPr/>
          </a:p>
          <a:p>
            <a:r>
              <a:t>Tunjukkan alur:</a:t>
            </a:r>
          </a:p>
          <a:p>
            <a:r>
              <a:t>Analyst → memahami masalah</a:t>
            </a:r>
          </a:p>
          <a:p>
            <a:r>
              <a:t>Designer → membuat langkah</a:t>
            </a:r>
          </a:p>
          <a:p>
            <a:r>
              <a:t>Implementer → menerjemahkan langkah menjadi kode</a:t>
            </a:r>
          </a:p>
          <a:p>
            <a:r>
              <a:t>Tester → membuktikan bahwa hasil benar</a:t>
            </a:r>
          </a:p>
          <a:p>
            <a:endParaRPr/>
          </a:p>
          <a:p>
            <a:r>
              <a:t>Kalimat penutup yang bisa digunakan:</a:t>
            </a:r>
          </a:p>
          <a:p>
            <a:r>
              <a:t>“Yang paling penting hari ini bukan siapa yang paling cepat menyelesaikan program, tetapi apakah kalian tahu apa yang kalian kerjakan, bisa menjelaskannya, dan bisa bekerja sama ketika tanggung jawab berpindah.”</a:t>
            </a:r>
          </a:p>
          <a:p>
            <a:endParaRPr/>
          </a:p>
          <a:p>
            <a:r>
              <a:t>Minta:</a:t>
            </a:r>
          </a:p>
          <a:p>
            <a:r>
              <a:t>- rapikan card</a:t>
            </a:r>
          </a:p>
          <a:p>
            <a:r>
              <a:t>- kumpulkan LKPD/card</a:t>
            </a:r>
          </a:p>
          <a:p>
            <a:r>
              <a:t>- kumpulkan exit ticket</a:t>
            </a:r>
          </a:p>
          <a:p>
            <a:endParaRPr/>
          </a:p>
          <a:p>
            <a:r>
              <a:t>Jika memberi apresiasi, berikan setelah seluruh refleksi selesai.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1865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8289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8033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6414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5917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4783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284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0870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06220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1529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4610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4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302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875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E78"/>
                </a:solidFill>
              </a:rPr>
              <a:t>SIKLUS II PTK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766E"/>
                </a:solidFill>
              </a:rPr>
              <a:t>ARRAY MISSION RELAY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7860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Review • Human Array • Mission Build • Role Call • Rotasi • Bug Hunt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657600"/>
            <a:ext cx="10789920" cy="132588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B8D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8770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</a:rPr>
              <a:t>Target hari ini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431596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Lebih paham hubungan Array + for, tahu apa yang harus dilakukan pada setiap job desk, dan mampu menjelaskan kontribusi setelah rotasi.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09.45–11.45 • 3 JP = 120 menit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Kita mulai dari hasil pertemuan sebelumnya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Bukan mengulang dari nol—kita memperbaiki bagian yang masih membuat bingung.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E2F0D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270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Yang sudah bagus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1856232"/>
            <a:ext cx="3090672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Pembagian tugas mulai berjalan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Komunikasi antarmurid muncul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Ada anggota yang membantu setelah task-nya selesai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Kerja kelompok lebih bertahap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CE4D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424" y="15270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Yang masih sulit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35424" y="1856232"/>
            <a:ext cx="3090672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Solution Designer bingung memulai algoritma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Implementer bingung menerjemahkan langkah ke kode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Array + for belum mantap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Sebagian murid belum dapat menjelaskan job desk saat random check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41732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D9EA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5270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Perbaikan hari ini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84464" y="1856232"/>
            <a:ext cx="3090672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Review step by step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Starter untuk Designer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Code skeleton untuk Implementer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Timer tegas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Checkpoint sebelum rotasi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Bug Hunt setelah rotasi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8"/>
                </a:solidFill>
              </a:rPr>
              <a:t>Hari ini fokusnya bukan siapa paling cepat selesai, tetapi siapa yang benar-benar tahu bagian yang dikerjakan.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/>
              <a:t>Challenge 1 dan Challenge 2: polanya sama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Yang berubah adalah konteks dan data; alur penyelesaiannya tetap.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FF2CC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52704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Challenge 1 – Penjualan Kantin</a:t>
            </a:r>
          </a:p>
        </p:txBody>
      </p:sp>
      <p:sp>
        <p:nvSpPr>
          <p:cNvPr id="6" name="Text 4"/>
          <p:cNvSpPr/>
          <p:nvPr/>
        </p:nvSpPr>
        <p:spPr>
          <a:xfrm>
            <a:off x="877824" y="1856232"/>
            <a:ext cx="4736592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b="1" dirty="0"/>
              <a:t>120, 150, 135, 180, 165</a:t>
            </a:r>
          </a:p>
          <a:p>
            <a:pPr marL="0" indent="0">
              <a:buNone/>
            </a:pPr>
            <a:r>
              <a:rPr lang="en-US" sz="1150" b="1" dirty="0"/>
              <a:t>Target: tampilkan data, total, rata-rata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D9EA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47104" y="152704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Challenge 2 – Pengunjung Perpustakaan</a:t>
            </a:r>
          </a:p>
        </p:txBody>
      </p:sp>
      <p:sp>
        <p:nvSpPr>
          <p:cNvPr id="9" name="Text 7"/>
          <p:cNvSpPr/>
          <p:nvPr/>
        </p:nvSpPr>
        <p:spPr>
          <a:xfrm>
            <a:off x="6547104" y="1856232"/>
            <a:ext cx="4736592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b="1" dirty="0"/>
              <a:t>45, 52, 38, 60, 55</a:t>
            </a:r>
          </a:p>
          <a:p>
            <a:pPr marL="0" indent="0">
              <a:buNone/>
            </a:pPr>
            <a:r>
              <a:rPr lang="en-US" sz="1150" b="1" dirty="0"/>
              <a:t>Target: tampilkan data, total, rata-rata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/>
              <a:t>DATA  →  ARRAY  →  total = 0  →  FOR  →  tampilkan + jumlahkan  →  rata-rata  →  OUTPUT</a:t>
            </a:r>
          </a:p>
        </p:txBody>
      </p:sp>
      <p:sp>
        <p:nvSpPr>
          <p:cNvPr id="11" name="Text 9"/>
          <p:cNvSpPr/>
          <p:nvPr/>
        </p:nvSpPr>
        <p:spPr>
          <a:xfrm>
            <a:off x="2880360" y="50749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Pertanyaan: Apa yang berubah? Apa yang tetap?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1">
                <a:solidFill>
                  <a:schemeClr val="tx1"/>
                </a:solidFill>
              </a:rPr>
              <a:t>3</a:t>
            </a:fld>
            <a:endParaRPr 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Empat job desk = satu alur kerja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Masing-masing punya keluaran yang dipakai oleh job desk berikutnya.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331720" cy="2926080"/>
          </a:xfrm>
          <a:prstGeom prst="roundRect">
            <a:avLst>
              <a:gd name="adj" fmla="val 3137"/>
            </a:avLst>
          </a:prstGeom>
          <a:solidFill>
            <a:srgbClr val="D9EA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66420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1. ANALYST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1993392"/>
            <a:ext cx="2039112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Apa masalahnya?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Data? Output? Proses?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99232" y="2670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520440" y="1554480"/>
            <a:ext cx="2331720" cy="2926080"/>
          </a:xfrm>
          <a:prstGeom prst="roundRect">
            <a:avLst>
              <a:gd name="adj" fmla="val 3137"/>
            </a:avLst>
          </a:prstGeom>
          <a:solidFill>
            <a:srgbClr val="E2F0D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166420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2. DESIGNER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66744" y="1993392"/>
            <a:ext cx="2039112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Bagaimana urutan penyelesaiannya?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Buat algoritma.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79592" y="2670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2331720" cy="2926080"/>
          </a:xfrm>
          <a:prstGeom prst="roundRect">
            <a:avLst>
              <a:gd name="adj" fmla="val 3137"/>
            </a:avLst>
          </a:prstGeom>
          <a:solidFill>
            <a:srgbClr val="FFF2CC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66420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3. IMPLEMENTER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47104" y="1993392"/>
            <a:ext cx="2039112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Bagaimana algoritma menjadi kode?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Lengkapi C++.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59952" y="2670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8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281160" y="1554480"/>
            <a:ext cx="2331720" cy="2926080"/>
          </a:xfrm>
          <a:prstGeom prst="roundRect">
            <a:avLst>
              <a:gd name="adj" fmla="val 3137"/>
            </a:avLst>
          </a:prstGeom>
          <a:solidFill>
            <a:srgbClr val="FCE4D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27464" y="166420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4. TESTER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27464" y="1993392"/>
            <a:ext cx="2039112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Apakah hasilnya benar?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Prediksi, cek, perbaiki.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Bukan empat pekerjaan terpisah. Hasil Analyst menjadi bahan Designer, hasil Designer menjadi peta Implementer, lalu Tester memeriksa.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209FF3B-E257-4E40-B5ED-ACD8C0D7FCBE}"/>
              </a:ext>
            </a:extLst>
          </p:cNvPr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Solution Designer – jangan mulai dari kode</a:t>
            </a:r>
            <a:endParaRPr lang="en-US" sz="24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5682B78-CA25-4A1E-98B1-A18B165E6559}"/>
              </a:ext>
            </a:extLst>
          </p:cNvPr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Produk Designer = urutan langkah yang dapat diikuti Implementer.</a:t>
            </a:r>
            <a:endParaRPr lang="en-US" sz="12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7477C3C5-200B-49A9-B622-AEB8736BE7F0}"/>
              </a:ext>
            </a:extLst>
          </p:cNvPr>
          <p:cNvSpPr/>
          <p:nvPr/>
        </p:nvSpPr>
        <p:spPr>
          <a:xfrm>
            <a:off x="6016752" y="1969187"/>
            <a:ext cx="6949440" cy="21972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1. Simpan 5 data penjualan ke dalam Array.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2. Buat variabel total dengan nilai awal 0.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3. Lakukan perulangan dari indeks 0 sampai 4.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4. Pada setiap perulangan: tampilkan data dan tambahkan ke total.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5. Setelah perulangan selesai, hitung rata-rata.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6. Tampilkan total dan rata-rata.</a:t>
            </a:r>
            <a:endParaRPr lang="en-US" sz="17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647E573-8697-40AA-9ABC-A27A1E2D6798}"/>
              </a:ext>
            </a:extLst>
          </p:cNvPr>
          <p:cNvSpPr/>
          <p:nvPr/>
        </p:nvSpPr>
        <p:spPr>
          <a:xfrm>
            <a:off x="800100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8"/>
                </a:solidFill>
              </a:rPr>
              <a:t>Designer = “peta jalan”, bukan programmer kedua.</a:t>
            </a:r>
            <a:endParaRPr lang="en-US" sz="1600" dirty="0"/>
          </a:p>
        </p:txBody>
      </p:sp>
      <p:sp>
        <p:nvSpPr>
          <p:cNvPr id="14" name="Slide Number Placeholder 0">
            <a:extLst>
              <a:ext uri="{FF2B5EF4-FFF2-40B4-BE49-F238E27FC236}">
                <a16:creationId xmlns:a16="http://schemas.microsoft.com/office/drawing/2014/main" id="{8887C958-D529-4F32-8CAC-878DFF75B8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F8C24898-5791-4D5C-8010-EC6DE829B69B}"/>
              </a:ext>
            </a:extLst>
          </p:cNvPr>
          <p:cNvSpPr/>
          <p:nvPr/>
        </p:nvSpPr>
        <p:spPr>
          <a:xfrm>
            <a:off x="502920" y="2019748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FF2CC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325DA406-B655-4645-A1A1-D1268B473271}"/>
              </a:ext>
            </a:extLst>
          </p:cNvPr>
          <p:cNvSpPr/>
          <p:nvPr/>
        </p:nvSpPr>
        <p:spPr>
          <a:xfrm>
            <a:off x="795528" y="253880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Challenge 1 – Penjualan Kantin</a:t>
            </a:r>
            <a:endParaRPr lang="en-US" sz="14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CAE74A96-B02B-419D-9FEA-6109A3D1A036}"/>
              </a:ext>
            </a:extLst>
          </p:cNvPr>
          <p:cNvSpPr/>
          <p:nvPr/>
        </p:nvSpPr>
        <p:spPr>
          <a:xfrm>
            <a:off x="795528" y="2867988"/>
            <a:ext cx="4736592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120, 150, 135, 180, 165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Target: tampilkan data, total, rata-rata</a:t>
            </a:r>
            <a:endParaRPr lang="en-US" sz="115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206655DF-0B44-43C8-8C76-D111F6ADBFF0}"/>
              </a:ext>
            </a:extLst>
          </p:cNvPr>
          <p:cNvSpPr/>
          <p:nvPr/>
        </p:nvSpPr>
        <p:spPr>
          <a:xfrm>
            <a:off x="2084294" y="4816198"/>
            <a:ext cx="5916706" cy="1649686"/>
          </a:xfrm>
          <a:prstGeom prst="roundRect">
            <a:avLst>
              <a:gd name="adj" fmla="val 2319"/>
            </a:avLst>
          </a:prstGeom>
          <a:solidFill>
            <a:srgbClr val="E2F0D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B230F7C-7425-4792-BA58-40B1880A6D6D}"/>
              </a:ext>
            </a:extLst>
          </p:cNvPr>
          <p:cNvSpPr/>
          <p:nvPr/>
        </p:nvSpPr>
        <p:spPr>
          <a:xfrm>
            <a:off x="3848010" y="5070617"/>
            <a:ext cx="2862072" cy="9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Starter yang akan diberikan</a:t>
            </a:r>
            <a:endParaRPr lang="en-US" sz="14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80497CD-0238-4725-922F-3FC08B934C48}"/>
              </a:ext>
            </a:extLst>
          </p:cNvPr>
          <p:cNvSpPr/>
          <p:nvPr/>
        </p:nvSpPr>
        <p:spPr>
          <a:xfrm>
            <a:off x="3848010" y="5399800"/>
            <a:ext cx="2862072" cy="10332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Simpan data menggunakan ______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Buat variabel ______ = ____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Perulangan dari ____ sampai ____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Di dalam loop: ______ + ______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Setelah loop: hitung ______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Implementer – terjemahkan langkah menjadi C++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Hari ini Implementer tidak memulai dari halaman kosong.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7452360" cy="4343400"/>
          </a:xfrm>
          <a:prstGeom prst="roundRect">
            <a:avLst/>
          </a:prstGeom>
          <a:solidFill>
            <a:srgbClr val="18212B"/>
          </a:solidFill>
          <a:ln w="12700">
            <a:solidFill>
              <a:srgbClr val="1821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53896"/>
            <a:ext cx="7123176" cy="4087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penjualan[5] = {120, 150, 135, 180, 165}; // simpan 5 data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 = 0;                                  // penampung jumlah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 = 0; i &lt; 5; i++) {                   // indeks 0,1,2,3,4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penjualan[i] &lt;&lt; endl;               // tampilkan elemen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penjualan[i];                      // total = total + data saat ini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rata = total / 5.0;                       // hitung rata-rata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366760" y="141732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2CC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13064" y="152704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Kenapa total ditulis dua kali?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13064" y="1856232"/>
            <a:ext cx="290779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total = total + penjualan[i]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Kanan = total lama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Kiri = tempat menyimpan total baru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366760" y="370332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D9EA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13064" y="381304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Ingat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13064" y="4142232"/>
            <a:ext cx="2907792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total += penjualan[i]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artinya sama dengan: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total = total + penjualan[i]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Human Array – 8 menit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Kita “jadi” Array supaya hubungan indeks dan for terlihat.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600200" cy="96012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</a:rPr>
              <a:t>10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8"/>
                </a:solidFill>
              </a:rPr>
              <a:t>[0]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71800" y="1600200"/>
            <a:ext cx="1600200" cy="96012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8288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</a:rPr>
              <a:t>20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7180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8"/>
                </a:solidFill>
              </a:rPr>
              <a:t>[1]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20640" y="1600200"/>
            <a:ext cx="1600200" cy="96012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8288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</a:rPr>
              <a:t>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2064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8"/>
                </a:solidFill>
              </a:rPr>
              <a:t>[2]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69480" y="1600200"/>
            <a:ext cx="1600200" cy="96012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8288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</a:rPr>
              <a:t>40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6948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8"/>
                </a:solidFill>
              </a:rPr>
              <a:t>[3]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18320" y="1600200"/>
            <a:ext cx="1600200" cy="96012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8288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</a:rPr>
              <a:t>50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41832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8"/>
                </a:solidFill>
              </a:rPr>
              <a:t>[4]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794760"/>
            <a:ext cx="97840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“data[2] siapa?”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“data[4] siapa?”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“data[5] ada?”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Jalankan i = 0 → 1 → 2 → 3 → 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Aturan Array Mission Relay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Supaya kerja kelompok tidak kembali dikerjakan satu orang.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424160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Satu challenge dikerjakan oleh 4 job desk yang saling terhubung.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Boleh membantu, tetapi jangan mengambil alih pekerjaan teman.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Setiap job desk wajib meninggalkan bukti kerja.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Timer habis = semua kelompok STOP, selesai ataupun belum.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Sebelum rotasi, lakukan handover singkat.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Siapa pun dapat dipilih untuk Role Call.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194560" y="5486400"/>
            <a:ext cx="7772400" cy="50292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B8D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561441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8"/>
                </a:solidFill>
              </a:rPr>
              <a:t>Poin/apresiasi untuk kontribusi merata dan rotasi yang baik — bukan program tercepat.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MISSION BUILD – Festival Sekolah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Ronde 1 • 22 menit • kerjakan sesuai task awal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652760" cy="132588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B8D1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002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Panitia festival mencatat jumlah pengunjung sebuah booth selama 5 sesi: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0" y="2048256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</a:rPr>
              <a:t>40, 55, 48, 63, 54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D9EA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31729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Analyst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502152"/>
            <a:ext cx="226771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Data?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Jumlah elemen?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Output?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Proses?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11880" y="306324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E2F0D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31729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Designer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58184" y="3502152"/>
            <a:ext cx="226771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Lengkapi starter algoritma.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Jangan menulis kode.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06324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FF2CC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31729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Implementer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47104" y="3502152"/>
            <a:ext cx="226771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Lengkapi code skeleton dari hasil Designer.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9720" y="3063240"/>
            <a:ext cx="2057400" cy="1874520"/>
          </a:xfrm>
          <a:prstGeom prst="roundRect">
            <a:avLst>
              <a:gd name="adj" fmla="val 3902"/>
            </a:avLst>
          </a:prstGeom>
          <a:solidFill>
            <a:srgbClr val="FCE4D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36024" y="317296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Tester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36024" y="3502152"/>
            <a:ext cx="176479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Prediksi total/rata-rata.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Cek hasil.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5532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0000"/>
                </a:solidFill>
              </a:rPr>
              <a:t>⏱ 22 MENIT — 5 menit terakhir: pastikan setiap task punya bukti kerja.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STOP + ROLE CALL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Ronde 1 selesai. Jangan lanjut coding dulu.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17520" y="13258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8"/>
                </a:solidFill>
              </a:rPr>
              <a:t>Semua role yang dipanggil berdiri.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D9EA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585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ANALYST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587752"/>
            <a:ext cx="2359152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Apa data dan output masalah kelompokmu?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Apa proses utamanya?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11880" y="214884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E2F0D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8184" y="22585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DESIGNER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58184" y="2587752"/>
            <a:ext cx="2359152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Langkah apa yang kamu hasilkan?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Bagian mana yang menjadi for?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214884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FFF2CC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8544" y="22585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IMPLEMENTER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38544" y="2587752"/>
            <a:ext cx="2359152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Bagian kode mana berasal dari Designer?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Apa arti total += data[i]?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72600" y="2148840"/>
            <a:ext cx="2103120" cy="2423160"/>
          </a:xfrm>
          <a:prstGeom prst="roundRect">
            <a:avLst>
              <a:gd name="adj" fmla="val 3478"/>
            </a:avLst>
          </a:prstGeom>
          <a:solidFill>
            <a:srgbClr val="FCE4D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18904" y="22585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TESTER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18904" y="2587752"/>
            <a:ext cx="1810512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Apa prediksi hasilmu?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Apa yang kamu cek?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77440" y="51206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Random check = bukti pemahaman individual, bukan lomba hafalan.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ROTASI + HANDOVER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4 menit • pindah satu job desk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240280" cy="100584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C6D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105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8"/>
                </a:solidFill>
              </a:rPr>
              <a:t>Analyst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07792" y="1828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8"/>
                </a:solidFill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0" y="1508760"/>
            <a:ext cx="2240280" cy="100584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C6D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8105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8"/>
                </a:solidFill>
              </a:rPr>
              <a:t>Designer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96712" y="1828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8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2240280" cy="10058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C6D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8105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8"/>
                </a:solidFill>
              </a:rPr>
              <a:t>Implementer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85632" y="1828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8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052560" y="1508760"/>
            <a:ext cx="2240280" cy="100584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6D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8105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8"/>
                </a:solidFill>
              </a:rPr>
              <a:t>Tester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51960" y="27614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8"/>
                </a:solidFill>
              </a:rPr>
              <a:t>Tester → Analyst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011680" y="3520440"/>
            <a:ext cx="813816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7984" y="3630168"/>
            <a:ext cx="7845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Handover 30–45 detik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57984" y="3959352"/>
            <a:ext cx="7845552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1. Ini yang sudah saya kerjakan.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2. Ini yang belum selesai.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3. Ini yang perlu kamu perhatikan saat menerima task baru.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BUG HUNT – Ronde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18 menit • gunakan JOB DESK BARU untuk menemukan dan memperbaiki masalah.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492240" cy="4389120"/>
          </a:xfrm>
          <a:prstGeom prst="roundRect">
            <a:avLst/>
          </a:prstGeom>
          <a:solidFill>
            <a:srgbClr val="18212B"/>
          </a:solidFill>
          <a:ln w="12700">
            <a:solidFill>
              <a:srgbClr val="1821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45336"/>
            <a:ext cx="6163056" cy="4133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pengunjung[5] = {40, 55, 48, 63, 54};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 = 1;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 = 0; i &lt;= 5; i++)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pengunjung[i] &lt;&lt; endl;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pengunjung[i];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rata = total / 4.0;</a:t>
            </a:r>
          </a:p>
          <a:p>
            <a:pPr marL="0" indent="0">
              <a:buNone/>
            </a:pPr>
            <a:endParaRPr lang="en-US" sz="1400" dirty="0">
              <a:solidFill>
                <a:srgbClr val="F8FAFC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F8FAFC"/>
                </a:solidFill>
                <a:latin typeface="Consolas" pitchFamily="34" charset="0"/>
              </a:rPr>
              <a:t>Cout</a:t>
            </a:r>
            <a:r>
              <a:rPr lang="en-US" sz="1400" dirty="0">
                <a:solidFill>
                  <a:srgbClr val="F8FAFC"/>
                </a:solidFill>
                <a:latin typeface="Consolas" pitchFamily="34" charset="0"/>
              </a:rPr>
              <a:t>&lt;&lt;“Hasil Total :”&lt;&lt;total;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F8FAFC"/>
                </a:solidFill>
                <a:latin typeface="Consolas" pitchFamily="34" charset="0"/>
              </a:rPr>
              <a:t>Cout</a:t>
            </a:r>
            <a:r>
              <a:rPr lang="en-US" sz="1400" dirty="0">
                <a:solidFill>
                  <a:srgbClr val="F8FAFC"/>
                </a:solidFill>
                <a:latin typeface="Consolas" pitchFamily="34" charset="0"/>
              </a:rPr>
              <a:t>&lt;&lt;“Rata-rata :”&lt;&lt;rata: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43800" y="155448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CE4D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90104" y="1664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Misi sesuai role baru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90104" y="1993392"/>
            <a:ext cx="354787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Analyst → apa seharusnya program lakukan?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Designer → langkah mana yang tidak sesuai?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Implementer → perbaiki baris kode.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Tester → hitung manual dan cocokkan.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321040" y="54406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0000"/>
                </a:solidFill>
              </a:rPr>
              <a:t>Temukan minimal 3 masalah.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Pembahasan Bug Hunt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Tampilkan slide ini setelah waktu Bug Hunt selesai.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2CC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5270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BUG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" y="1856232"/>
            <a:ext cx="3090672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int total = 1;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→ int total = 0;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Karena total adalah akumulator penjumlahan.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D9EA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424" y="15270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BUG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35424" y="1856232"/>
            <a:ext cx="3090672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i &lt;= 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→ i &lt; 5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Indeks valid hanya 0–4.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4173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3024" y="15270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BUG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93024" y="1856232"/>
            <a:ext cx="3090672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total / 4.0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→ total / 5.0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Jumlah data = 5.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48840" y="3886200"/>
            <a:ext cx="7863840" cy="1572768"/>
          </a:xfrm>
          <a:prstGeom prst="roundRect">
            <a:avLst/>
          </a:prstGeom>
          <a:solidFill>
            <a:srgbClr val="18212B"/>
          </a:solidFill>
          <a:ln w="12700">
            <a:solidFill>
              <a:srgbClr val="1821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13432" y="4014216"/>
            <a:ext cx="753465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 = 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 = 0; i &lt; 5; i++)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pengunjung[i] &lt;&lt; endl;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pengunjung[i];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rata = total / 5.0;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8"/>
                </a:solidFill>
              </a:rPr>
              <a:t>Kunci hasil: total = 260 • rata-rata = 52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Random Check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Sekarang yang dicek bukan hanya program—tetapi juga kontribusi setelah rotasi.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417320"/>
            <a:ext cx="987552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Job desk kamu setelah rotasi apa?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Bug atau perbaikan apa yang kamu tangani?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Mengapa bagian itu perlu diperbaiki?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Apa informasi yang kamu terima saat handover?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Bagian mana yang kamu kerjakan sendiri?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0" y="5120640"/>
            <a:ext cx="8138160" cy="566928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B6D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5285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Boleh bekerja sama, tetapi setiap orang harus bisa menjelaskan kontribusinya.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Refleksi Kelompok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Bandingkan dengan pertemuan sebelumnya.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EEF2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52704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Diskusikan 2 menit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9264" y="1856232"/>
            <a:ext cx="4828032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Apakah starter Designer membuat kalian lebih tahu harus mulai dari mana?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Apakah code skeleton membantu Implementer?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Apakah handover membantu saat menerima role baru?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Apakah ada pekerjaan yang masih diambil alih satu orang?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D9EA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9944" y="152704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Target perbaikan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9944" y="1856232"/>
            <a:ext cx="4828032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Bukan sekadar program selesai.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Yang kita cari: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✓ tanggung jawab jelas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✓ kontribusi nyata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✓ komunikasi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✓ pemahaman individual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17520" y="5257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</a:rPr>
              <a:t>Program benar ≠ otomatis semua anggota aktif.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Exit Ticket – 6 menit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Isi sendiri. Tidak perlu diskusi.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325880"/>
            <a:ext cx="98755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Task pertama saya: ______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Task setelah rotasi: ______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Bagian yang benar-benar saya kerjakan: ______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Starter/skeleton membuat saya: masih bingung / mulai paham / cukup paham / sangat paham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Saya dapat menjelaskan hubungan Array + for: belum / sebagian / ya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Bagian yang masih sulit: ______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5623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8"/>
                </a:solidFill>
              </a:rPr>
              <a:t>Jawab apa adanya. Ini data refleksi, bukan mencari jawaban yang “bagus”.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8"/>
                </a:solidFill>
              </a:rPr>
              <a:t>Penutup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579"/>
                </a:solidFill>
              </a:rPr>
              <a:t>Empat task, satu solusi.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</a:rPr>
              <a:t>ANALYST  →  DESIGNER  →  IMPLEMENTER  →  TESTER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560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8"/>
                </a:solidFill>
              </a:rPr>
              <a:t>Masalah → langkah → kode → bukti bahwa hasilnya benar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63040" y="3703320"/>
            <a:ext cx="9235440" cy="105156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B8D1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9502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Hari ini yang paling penting bukan siapa yang paling cepat coding, tetapi apakah setiap orang tahu apa yang ia kerjakan dan dapat menjelaskannya.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03120" y="5486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</a:rPr>
              <a:t>Terima kasih — rapikan kartu role dan kumpulkan LKPD + exit ticket.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689</TotalTime>
  <Words>3962</Words>
  <Application>Microsoft Office PowerPoint</Application>
  <PresentationFormat>Widescreen</PresentationFormat>
  <Paragraphs>713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SMA Negeri 12 Bandung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Siklus II PTK - Array Mission Relay</dc:title>
  <dc:subject>Siklus II PTK Array Mission Relay</dc:subject>
  <dc:creator>OpenAI</dc:creator>
  <cp:lastModifiedBy>Tiara Destiana</cp:lastModifiedBy>
  <cp:revision>2</cp:revision>
  <dcterms:created xsi:type="dcterms:W3CDTF">2026-10-14T12:41:17Z</dcterms:created>
  <dcterms:modified xsi:type="dcterms:W3CDTF">2026-10-15T14:04:08Z</dcterms:modified>
</cp:coreProperties>
</file>