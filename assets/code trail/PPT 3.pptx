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 setelah istirahat: ingatkan bahwa Code Trail melatih dry run. Sekarang siswa diarahkan melihat pola pengulangan.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12648"/>
            <a:ext cx="10771632" cy="5029200"/>
          </a:xfrm>
          <a:prstGeom prst="roundRect">
            <a:avLst>
              <a:gd name="adj" fmla="val 4182"/>
            </a:avLst>
          </a:prstGeom>
          <a:solidFill>
            <a:srgbClr val="FFFFFF">
              <a:alpha val="95000"/>
            </a:srgbClr>
          </a:solidFill>
          <a:ln w="38100">
            <a:solidFill>
              <a:srgbClr val="2474D1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194560" y="868680"/>
            <a:ext cx="7772400" cy="411480"/>
          </a:xfrm>
          <a:prstGeom prst="roundRect">
            <a:avLst/>
          </a:prstGeom>
          <a:solidFill>
            <a:srgbClr val="17365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SETELAH ISTIRAHAT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1508760"/>
            <a:ext cx="95554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Dari Code Trail</a:t>
            </a:r>
            <a:endParaRPr lang="en-US" sz="4500" dirty="0"/>
          </a:p>
          <a:p>
            <a:pPr algn="ctr" indent="0" marL="0">
              <a:buNone/>
            </a:pPr>
            <a:r>
              <a:rPr lang="en-US" sz="4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 Perulangan for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828800" y="3337560"/>
            <a:ext cx="85496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42C1"/>
                </a:solidFill>
              </a:rPr>
              <a:t>Kita tidak langsung menghafal sintaks.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6F42C1"/>
                </a:solidFill>
              </a:rPr>
              <a:t>Kita baca kode, jejak nilai variabel, lalu temukan pola pengulangan.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4297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000000"/>
                </a:solidFill>
              </a:rPr>
              <a:t>🧠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834640" y="43434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➡️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5120640" y="4297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000000"/>
                </a:solidFill>
              </a:rPr>
              <a:t>💻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6903720" y="43434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➡️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9235440" y="4297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000000"/>
                </a:solidFill>
              </a:rPr>
              <a:t>🔁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Target: memahami mengapa perulangan dibutuhkan dan menelusuri for sederhana.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1 JP Setelah Istirahat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Dari aktivitas bergerak menuju konsep for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874520" cy="2240280"/>
          </a:xfrm>
          <a:prstGeom prst="roundRect">
            <a:avLst>
              <a:gd name="adj" fmla="val 6829"/>
            </a:avLst>
          </a:prstGeom>
          <a:solidFill>
            <a:srgbClr val="D9EAF7"/>
          </a:solidFill>
          <a:ln w="25400">
            <a:solidFill>
              <a:srgbClr val="2474D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34440" y="1965960"/>
            <a:ext cx="685800" cy="502920"/>
          </a:xfrm>
          <a:prstGeom prst="ellipse">
            <a:avLst/>
          </a:prstGeom>
          <a:solidFill>
            <a:srgbClr val="2474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Recall Code Trail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4672" y="3154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74D1"/>
                </a:solidFill>
              </a:rPr>
              <a:t>nilai berubah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560320" y="26517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880360" y="1828800"/>
            <a:ext cx="1874520" cy="2240280"/>
          </a:xfrm>
          <a:prstGeom prst="roundRect">
            <a:avLst>
              <a:gd name="adj" fmla="val 6829"/>
            </a:avLst>
          </a:prstGeom>
          <a:solidFill>
            <a:srgbClr val="E2F0D9"/>
          </a:solidFill>
          <a:ln w="25400">
            <a:solidFill>
              <a:srgbClr val="4EA64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965960"/>
            <a:ext cx="685800" cy="502920"/>
          </a:xfrm>
          <a:prstGeom prst="ellipse">
            <a:avLst/>
          </a:prstGeom>
          <a:solidFill>
            <a:srgbClr val="4EA6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990088" y="26060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Masalah Berulang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044952" y="3154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4EA64F"/>
                </a:solidFill>
              </a:rPr>
              <a:t>cout berkali-kali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800600" y="26517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120640" y="1828800"/>
            <a:ext cx="1874520" cy="2240280"/>
          </a:xfrm>
          <a:prstGeom prst="roundRect">
            <a:avLst>
              <a:gd name="adj" fmla="val 6829"/>
            </a:avLst>
          </a:prstGeom>
          <a:solidFill>
            <a:srgbClr val="FFF2C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15000" y="1965960"/>
            <a:ext cx="68580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230368" y="26060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Counter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285232" y="3154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59E0B"/>
                </a:solidFill>
              </a:rPr>
              <a:t>i = i + 1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40880" y="26517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7360920" y="1828800"/>
            <a:ext cx="1874520" cy="2240280"/>
          </a:xfrm>
          <a:prstGeom prst="roundRect">
            <a:avLst>
              <a:gd name="adj" fmla="val 6829"/>
            </a:avLst>
          </a:prstGeom>
          <a:solidFill>
            <a:srgbClr val="E8DAF8"/>
          </a:solidFill>
          <a:ln w="25400">
            <a:solidFill>
              <a:srgbClr val="6F4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55280" y="1965960"/>
            <a:ext cx="685800" cy="502920"/>
          </a:xfrm>
          <a:prstGeom prst="ellipse">
            <a:avLst/>
          </a:prstGeom>
          <a:solidFill>
            <a:srgbClr val="6F42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70648" y="26060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Struktur for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525512" y="3154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F42C1"/>
                </a:solidFill>
              </a:rPr>
              <a:t>awal–kondisi–ubah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281160" y="26517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→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9601200" y="1828800"/>
            <a:ext cx="1874520" cy="2240280"/>
          </a:xfrm>
          <a:prstGeom prst="roundRect">
            <a:avLst>
              <a:gd name="adj" fmla="val 6829"/>
            </a:avLst>
          </a:prstGeom>
          <a:solidFill>
            <a:srgbClr val="FCE4D6"/>
          </a:solidFill>
          <a:ln w="25400">
            <a:solidFill>
              <a:srgbClr val="E83E8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195560" y="1965960"/>
            <a:ext cx="685800" cy="502920"/>
          </a:xfrm>
          <a:prstGeom prst="ellipse">
            <a:avLst/>
          </a:prstGeom>
          <a:solidFill>
            <a:srgbClr val="E83E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710928" y="26060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Trace &amp; Challenge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765792" y="3154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83E8C"/>
                </a:solidFill>
              </a:rPr>
              <a:t>prediksi output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960120" y="4572000"/>
            <a:ext cx="1028700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25400">
            <a:solidFill>
              <a:srgbClr val="17365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188720" y="4727448"/>
            <a:ext cx="9829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Prinsip: jangan langsung definisi. Mulai dari masalah: “Kalau perintah sama harus diulang 100 kali, bagaimana?”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Siswa diajak menemukan kebutuhan loop, bukan hanya menerima definisi.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Ingat Template Dasar C++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Agar cin dan cout tidak error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00200"/>
            <a:ext cx="6492240" cy="4069080"/>
          </a:xfrm>
          <a:prstGeom prst="roundRect">
            <a:avLst>
              <a:gd name="adj" fmla="val 2921"/>
            </a:avLst>
          </a:prstGeom>
          <a:solidFill>
            <a:srgbClr val="111827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33272" y="1746504"/>
            <a:ext cx="6163056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 &lt;iostream&gt;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 namespace std;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 main() {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// isi program ditulis di sini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 0;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26680" y="1554480"/>
            <a:ext cx="3703320" cy="1097280"/>
          </a:xfrm>
          <a:prstGeom prst="roundRect">
            <a:avLst>
              <a:gd name="adj" fmla="val 11667"/>
            </a:avLst>
          </a:prstGeom>
          <a:solidFill>
            <a:srgbClr val="E2F0D9"/>
          </a:solidFill>
          <a:ln w="25400">
            <a:solidFill>
              <a:srgbClr val="4EA64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36992" y="1810512"/>
            <a:ext cx="32918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A64F"/>
                </a:solidFill>
              </a:rPr>
              <a:t>cin dan cout butuh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4EA64F"/>
                </a:solidFill>
              </a:rPr>
              <a:t>#include &lt;iostream&gt;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26680" y="2880360"/>
            <a:ext cx="3703320" cy="1097280"/>
          </a:xfrm>
          <a:prstGeom prst="roundRect">
            <a:avLst>
              <a:gd name="adj" fmla="val 11667"/>
            </a:avLst>
          </a:prstGeom>
          <a:solidFill>
            <a:srgbClr val="FFF2C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0" y="3136392"/>
            <a:ext cx="32461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9E0B"/>
                </a:solidFill>
              </a:rPr>
              <a:t>using namespace std;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59E0B"/>
                </a:solidFill>
              </a:rPr>
              <a:t>memudahkan penulisan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726680" y="4206240"/>
            <a:ext cx="3703320" cy="1097280"/>
          </a:xfrm>
          <a:prstGeom prst="roundRect">
            <a:avLst>
              <a:gd name="adj" fmla="val 11667"/>
            </a:avLst>
          </a:prstGeom>
          <a:solidFill>
            <a:srgbClr val="E8DAF8"/>
          </a:solidFill>
          <a:ln w="25400">
            <a:solidFill>
              <a:srgbClr val="6F4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0" y="4453128"/>
            <a:ext cx="32461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F42C1"/>
                </a:solidFill>
              </a:rPr>
              <a:t>Kode utama ada di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6F42C1"/>
                </a:solidFill>
              </a:rPr>
              <a:t>dalam int main()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Gunakan template ini secara konsisten sebelum masuk latihan for.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Masalah: Perintah yang Sama Berulang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Dari lima cout menuju ide perulangan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81328"/>
            <a:ext cx="6583680" cy="2971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627632"/>
            <a:ext cx="6254496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 &lt;&lt; "Belajar C++" &lt;&lt; endl;</a:t>
            </a:r>
            <a:endParaRPr lang="en-US" sz="2150" dirty="0"/>
          </a:p>
          <a:p>
            <a:pPr indent="0" marL="0">
              <a:buNone/>
            </a:pPr>
            <a:r>
              <a:rPr lang="en-US" sz="21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 &lt;&lt; "Belajar C++" &lt;&lt; endl;</a:t>
            </a:r>
            <a:endParaRPr lang="en-US" sz="2150" dirty="0"/>
          </a:p>
          <a:p>
            <a:pPr indent="0" marL="0">
              <a:buNone/>
            </a:pPr>
            <a:r>
              <a:rPr lang="en-US" sz="21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 &lt;&lt; "Belajar C++" &lt;&lt; endl;</a:t>
            </a:r>
            <a:endParaRPr lang="en-US" sz="2150" dirty="0"/>
          </a:p>
          <a:p>
            <a:pPr indent="0" marL="0">
              <a:buNone/>
            </a:pPr>
            <a:r>
              <a:rPr lang="en-US" sz="21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 &lt;&lt; "Belajar C++" &lt;&lt; endl;</a:t>
            </a:r>
            <a:endParaRPr lang="en-US" sz="2150" dirty="0"/>
          </a:p>
          <a:p>
            <a:pPr indent="0" marL="0">
              <a:buNone/>
            </a:pPr>
            <a:r>
              <a:rPr lang="en-US" sz="21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 &lt;&lt; "Belajar C++" &lt;&lt; endl;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95528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</a:rPr>
              <a:t>Kalau harus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</a:rPr>
              <a:t>100 kali?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0" y="2926080"/>
            <a:ext cx="37947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Apakah kita akan menulis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cout sebanyak 100 baris?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9098280" y="4069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🤔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Perulangan muncul karena ada perintah yang perlu dijalankan berkali-kali.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Perulangan Itu Apa?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Konsep dulu, sintaks setelahnya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5166360" cy="3108960"/>
          </a:xfrm>
          <a:prstGeom prst="roundRect">
            <a:avLst>
              <a:gd name="adj" fmla="val 4118"/>
            </a:avLst>
          </a:prstGeom>
          <a:solidFill>
            <a:srgbClr val="E2F0D9"/>
          </a:solidFill>
          <a:ln w="25400">
            <a:solidFill>
              <a:srgbClr val="4EA64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828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EA64F"/>
                </a:solidFill>
              </a:rPr>
              <a:t>Perulangan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43000" y="2560320"/>
            <a:ext cx="43891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Menjalankan perintah yang sama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berulang kali selama kondisi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masih terpenuhi.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880360" y="39776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🔁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4983480" cy="3108960"/>
          </a:xfrm>
          <a:prstGeom prst="roundRect">
            <a:avLst>
              <a:gd name="adj" fmla="val 4118"/>
            </a:avLst>
          </a:prstGeom>
          <a:solidFill>
            <a:srgbClr val="D9EAF7"/>
          </a:solidFill>
          <a:ln w="25400">
            <a:solidFill>
              <a:srgbClr val="2474D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1828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474D1"/>
                </a:solidFill>
              </a:rPr>
              <a:t>Contoh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839712" y="2606040"/>
            <a:ext cx="41148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Menampilkan angka 1 sampai 5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atau menampilkan teks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"Belajar C++" sebanyak 5 kali.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458200" y="39776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🧮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Loop = cek kondisi, jalankan perintah, ubah nilai, cek lagi.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Kunci Perulangan: Counter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Counter adalah variabel pencacah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54480"/>
            <a:ext cx="5669280" cy="3886200"/>
          </a:xfrm>
          <a:prstGeom prst="roundRect">
            <a:avLst>
              <a:gd name="adj" fmla="val 3059"/>
            </a:avLst>
          </a:prstGeom>
          <a:solidFill>
            <a:srgbClr val="111827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33272" y="1700784"/>
            <a:ext cx="5340096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 i = 1;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 = i + 1;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nilai i menjadi 2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i++;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artinya sama: i = i + 1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040880" y="1554480"/>
            <a:ext cx="4343400" cy="3886200"/>
          </a:xfrm>
          <a:prstGeom prst="roundRect">
            <a:avLst>
              <a:gd name="adj" fmla="val 3294"/>
            </a:avLst>
          </a:prstGeom>
          <a:solidFill>
            <a:srgbClr val="FFF2C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6092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i++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60920" y="2697480"/>
            <a:ext cx="36576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365D"/>
                </a:solidFill>
              </a:rPr>
              <a:t>berarti nilai i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7365D"/>
                </a:solidFill>
              </a:rPr>
              <a:t>bertambah 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0" y="3977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F42C1"/>
                </a:solidFill>
              </a:rPr>
              <a:t>i = 1 → 2 → 3 → 4 → 5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732520" y="46177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➡️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Kalau counter tidak berubah, perulangan bisa tidak berhenti.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Struktur for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Tiga bagian utama yang harus dibaca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10744200" cy="1325880"/>
          </a:xfrm>
          <a:prstGeom prst="roundRect">
            <a:avLst>
              <a:gd name="adj" fmla="val 8966"/>
            </a:avLst>
          </a:prstGeom>
          <a:solidFill>
            <a:srgbClr val="111827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563624"/>
            <a:ext cx="104150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(int i = 1; i &lt;= 5; i++) {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cout &lt;&lt; "Belajar C++" &lt;&lt; endl;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3246120"/>
            <a:ext cx="2148840" cy="1645920"/>
          </a:xfrm>
          <a:prstGeom prst="roundRect">
            <a:avLst>
              <a:gd name="adj" fmla="val 7778"/>
            </a:avLst>
          </a:prstGeom>
          <a:solidFill>
            <a:srgbClr val="D9EAF7"/>
          </a:solidFill>
          <a:ln w="25400">
            <a:solidFill>
              <a:srgbClr val="2474D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4747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74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95020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Nilai awal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43799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mulai dari 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11880" y="3246120"/>
            <a:ext cx="2148840" cy="1645920"/>
          </a:xfrm>
          <a:prstGeom prst="roundRect">
            <a:avLst>
              <a:gd name="adj" fmla="val 7778"/>
            </a:avLst>
          </a:prstGeom>
          <a:solidFill>
            <a:srgbClr val="E2F0D9"/>
          </a:solidFill>
          <a:ln w="25400">
            <a:solidFill>
              <a:srgbClr val="4EA64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34747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A6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&lt;= 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395020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Kondisi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43799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selama benar, ulang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3246120"/>
            <a:ext cx="2148840" cy="1645920"/>
          </a:xfrm>
          <a:prstGeom prst="roundRect">
            <a:avLst>
              <a:gd name="adj" fmla="val 7778"/>
            </a:avLst>
          </a:prstGeom>
          <a:solidFill>
            <a:srgbClr val="FFF2C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34747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395020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Perubahan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43799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i bertambah 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281160" y="3246120"/>
            <a:ext cx="2148840" cy="1645920"/>
          </a:xfrm>
          <a:prstGeom prst="roundRect">
            <a:avLst>
              <a:gd name="adj" fmla="val 7778"/>
            </a:avLst>
          </a:prstGeom>
          <a:solidFill>
            <a:srgbClr val="E8DAF8"/>
          </a:solidFill>
          <a:ln w="25400">
            <a:solidFill>
              <a:srgbClr val="6F4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72600" y="34747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... }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418320" y="395020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Isi blok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418320" y="43799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perintah yang diulang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Baca for dari kiri ke kanan: nilai awal → kondisi → perubahan.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Kerja for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Komputer selalu mengecek kondisi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1600200" cy="1828800"/>
          </a:xfrm>
          <a:prstGeom prst="roundRect">
            <a:avLst>
              <a:gd name="adj" fmla="val 8000"/>
            </a:avLst>
          </a:prstGeom>
          <a:solidFill>
            <a:srgbClr val="D9EAF7"/>
          </a:solidFill>
          <a:ln w="25400">
            <a:solidFill>
              <a:srgbClr val="2474D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2011680"/>
            <a:ext cx="548640" cy="411480"/>
          </a:xfrm>
          <a:prstGeom prst="ellipse">
            <a:avLst/>
          </a:prstGeom>
          <a:solidFill>
            <a:srgbClr val="2474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96112" y="2624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Mulai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74D1"/>
                </a:solidFill>
              </a:rPr>
              <a:t>i =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1460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017520" y="1874520"/>
            <a:ext cx="1600200" cy="18288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 w="25400">
            <a:solidFill>
              <a:srgbClr val="4EA64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2011680"/>
            <a:ext cx="548640" cy="411480"/>
          </a:xfrm>
          <a:prstGeom prst="ellipse">
            <a:avLst/>
          </a:prstGeom>
          <a:solidFill>
            <a:srgbClr val="4EA6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90672" y="2624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Cek kondisi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090672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A64F"/>
                </a:solidFill>
              </a:rPr>
              <a:t>i &lt;= 5?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212080" y="1874520"/>
            <a:ext cx="1600200" cy="18288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15000" y="2011680"/>
            <a:ext cx="54864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85232" y="2624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Jalankan isi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285232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cout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7406640" y="1874520"/>
            <a:ext cx="1600200" cy="1828800"/>
          </a:xfrm>
          <a:prstGeom prst="roundRect">
            <a:avLst>
              <a:gd name="adj" fmla="val 8000"/>
            </a:avLst>
          </a:prstGeom>
          <a:solidFill>
            <a:srgbClr val="E8DAF8"/>
          </a:solidFill>
          <a:ln w="25400">
            <a:solidFill>
              <a:srgbClr val="6F4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09560" y="2011680"/>
            <a:ext cx="548640" cy="411480"/>
          </a:xfrm>
          <a:prstGeom prst="ellipse">
            <a:avLst/>
          </a:prstGeom>
          <a:solidFill>
            <a:srgbClr val="6F42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79792" y="2624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Ubah nilai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479792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i++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9828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→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9601200" y="1874520"/>
            <a:ext cx="1600200" cy="18288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104120" y="2011680"/>
            <a:ext cx="548640" cy="411480"/>
          </a:xfrm>
          <a:prstGeom prst="ellipse">
            <a:avLst/>
          </a:prstGeom>
          <a:solidFill>
            <a:srgbClr val="E74C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674352" y="2624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Cek lagi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674352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atau berhenti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828800" y="4572000"/>
            <a:ext cx="850392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25400">
            <a:solidFill>
              <a:srgbClr val="17365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57400" y="47274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Perulangan berhenti saat kondisi bernilai FALSE.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Sama seperti Code Trail: kita membaca alur program satu langkah demi satu langkah.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Tracing Bersama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Ikuti nilai i sampai loop berhenti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4892040" cy="1325880"/>
          </a:xfrm>
          <a:prstGeom prst="roundRect">
            <a:avLst>
              <a:gd name="adj" fmla="val 8966"/>
            </a:avLst>
          </a:prstGeom>
          <a:solidFill>
            <a:srgbClr val="111827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472184"/>
            <a:ext cx="456285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(int i = 1; i &lt;= 5; i++) {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cout &lt;&lt; i &lt;&lt; endl;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89320" y="132588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17365D"/>
          </a:solidFill>
          <a:ln w="25400">
            <a:solidFill>
              <a:srgbClr val="17365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16752" y="145389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Putaran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178040" y="132588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17365D"/>
          </a:solidFill>
          <a:ln w="25400">
            <a:solidFill>
              <a:srgbClr val="17365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05472" y="1453896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Nilai i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458200" y="132588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17365D"/>
          </a:solidFill>
          <a:ln w="25400">
            <a:solidFill>
              <a:srgbClr val="17365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85632" y="145389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i &lt;= 5?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921240" y="132588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17365D"/>
          </a:solidFill>
          <a:ln w="25400">
            <a:solidFill>
              <a:srgbClr val="17365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948672" y="145389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Output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89320" y="1828800"/>
            <a:ext cx="118872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195681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78040" y="1828800"/>
            <a:ext cx="128016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1956816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58200" y="1828800"/>
            <a:ext cx="146304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195681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TRUE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21240" y="1828800"/>
            <a:ext cx="141732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48672" y="195681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89320" y="233172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245973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78040" y="233172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2459736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58200" y="233172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245973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TRUE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921240" y="233172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48672" y="245973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89320" y="2834640"/>
            <a:ext cx="118872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296265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178040" y="2834640"/>
            <a:ext cx="128016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2962656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3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58200" y="2834640"/>
            <a:ext cx="146304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296265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TRUE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921240" y="2834640"/>
            <a:ext cx="141732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48672" y="296265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3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989320" y="333756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16752" y="346557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4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178040" y="333756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3465576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4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58200" y="333756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346557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TRUE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921240" y="333756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48672" y="346557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4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989320" y="3840480"/>
            <a:ext cx="118872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16752" y="396849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5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178040" y="3840480"/>
            <a:ext cx="128016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3968496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5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58200" y="3840480"/>
            <a:ext cx="146304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85632" y="396849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TRUE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921240" y="3840480"/>
            <a:ext cx="141732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48672" y="396849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5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989320" y="434340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16752" y="447141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6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178040" y="434340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05472" y="4471416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6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58200" y="434340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85632" y="447141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FALSE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921240" y="434340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948672" y="447141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STOP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31520" y="3337560"/>
            <a:ext cx="4892040" cy="1417320"/>
          </a:xfrm>
          <a:prstGeom prst="roundRect">
            <a:avLst>
              <a:gd name="adj" fmla="val 9032"/>
            </a:avLst>
          </a:prstGeom>
          <a:solidFill>
            <a:srgbClr val="FFF2C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960120" y="35661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Kesimpulan: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960120" y="39776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Output yang tampil adalah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1, 2, 3, 4, 5</a:t>
            </a:r>
            <a:endParaRPr lang="en-US" sz="2400" dirty="0"/>
          </a:p>
        </p:txBody>
      </p:sp>
      <p:sp>
        <p:nvSpPr>
          <p:cNvPr id="66" name="Shape 64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Saat i menjadi 6, kondisi i &lt;= 5 salah, maka loop berhenti.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Latihan 1: Predict the Output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Jawab tanpa compiler, gunakan tracing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08760"/>
            <a:ext cx="5486400" cy="1920240"/>
          </a:xfrm>
          <a:prstGeom prst="roundRect">
            <a:avLst>
              <a:gd name="adj" fmla="val 6190"/>
            </a:avLst>
          </a:prstGeom>
          <a:solidFill>
            <a:srgbClr val="111827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1655064"/>
            <a:ext cx="5157216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(int i = 1; i &lt;= 3; i++) {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cout &lt;&lt; i &lt;&lt; endl;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903720" y="1508760"/>
            <a:ext cx="4297680" cy="1920240"/>
          </a:xfrm>
          <a:prstGeom prst="roundRect">
            <a:avLst>
              <a:gd name="adj" fmla="val 6667"/>
            </a:avLst>
          </a:prstGeom>
          <a:solidFill>
            <a:srgbClr val="E8DAF8"/>
          </a:solidFill>
          <a:ln w="25400">
            <a:solidFill>
              <a:srgbClr val="6F4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1783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42C1"/>
                </a:solidFill>
              </a:rPr>
              <a:t>Tugas siswa: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78040" y="2267712"/>
            <a:ext cx="3749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1. Tulis nilai i tiap putaran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2. Tentukan output akhir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828800" y="3977640"/>
            <a:ext cx="8549640" cy="1097280"/>
          </a:xfrm>
          <a:prstGeom prst="roundRect">
            <a:avLst>
              <a:gd name="adj" fmla="val 11667"/>
            </a:avLst>
          </a:prstGeom>
          <a:solidFill>
            <a:srgbClr val="D9EAF7"/>
          </a:solidFill>
          <a:ln w="25400">
            <a:solidFill>
              <a:srgbClr val="2474D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48840" y="42519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74D1"/>
                </a:solidFill>
              </a:rPr>
              <a:t>Output: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65D"/>
                </a:solidFill>
              </a:rPr>
              <a:t>1   2   3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788920" y="516636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66666"/>
                </a:solidFill>
              </a:rPr>
              <a:t>(tampilkan jawaban setelah siswa mencoba)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Mulai dari output kecil sebelum membuat kode sendiri.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Latihan 2: Complete the Code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Lengkapi agar output 1 sampai 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463040"/>
            <a:ext cx="5852160" cy="1920240"/>
          </a:xfrm>
          <a:prstGeom prst="roundRect">
            <a:avLst>
              <a:gd name="adj" fmla="val 6190"/>
            </a:avLst>
          </a:prstGeom>
          <a:solidFill>
            <a:srgbClr val="111827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24712" y="1609344"/>
            <a:ext cx="5522976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(int i = 1; i &lt;= ___; i++) {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cout &lt;&lt; i &lt;&lt; endl;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315200" y="1463040"/>
            <a:ext cx="3886200" cy="1920240"/>
          </a:xfrm>
          <a:prstGeom prst="roundRect">
            <a:avLst>
              <a:gd name="adj" fmla="val 6667"/>
            </a:avLst>
          </a:prstGeom>
          <a:solidFill>
            <a:srgbClr val="E2F0D9"/>
          </a:solidFill>
          <a:ln w="25400">
            <a:solidFill>
              <a:srgbClr val="4EA64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0" y="1719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A64F"/>
                </a:solidFill>
              </a:rPr>
              <a:t>Target Output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732520" y="210312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28800" y="4160520"/>
            <a:ext cx="8503920" cy="868680"/>
          </a:xfrm>
          <a:prstGeom prst="roundRect">
            <a:avLst>
              <a:gd name="adj" fmla="val 14737"/>
            </a:avLst>
          </a:prstGeom>
          <a:solidFill>
            <a:srgbClr val="FFF2C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48840" y="4361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Jawaban: isi bagian kosong dengan 5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Kondisi menentukan sampai angka berapa perulangan berjalan.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Latihan 3: Modify the Code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Ubah output menjadi 1 sampai 10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5166360" cy="1874520"/>
          </a:xfrm>
          <a:prstGeom prst="roundRect">
            <a:avLst>
              <a:gd name="adj" fmla="val 6341"/>
            </a:avLst>
          </a:prstGeom>
          <a:solidFill>
            <a:srgbClr val="111827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1563624"/>
            <a:ext cx="4837176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(int i = 1; i &lt;= 5; i++) {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cout &lt;&lt; i &lt;&lt; endl;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5166360" cy="1874520"/>
          </a:xfrm>
          <a:prstGeom prst="roundRect">
            <a:avLst>
              <a:gd name="adj" fmla="val 6341"/>
            </a:avLst>
          </a:prstGeom>
          <a:solidFill>
            <a:srgbClr val="111827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5392" y="1563624"/>
            <a:ext cx="4837176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(int i = 1; i &lt;= 10; i++) {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cout &lt;&lt; i &lt;&lt; endl;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188720" y="4160520"/>
            <a:ext cx="9829800" cy="914400"/>
          </a:xfrm>
          <a:prstGeom prst="roundRect">
            <a:avLst>
              <a:gd name="adj" fmla="val 14000"/>
            </a:avLst>
          </a:prstGeom>
          <a:solidFill>
            <a:srgbClr val="E8DAF8"/>
          </a:solidFill>
          <a:ln w="25400">
            <a:solidFill>
              <a:srgbClr val="6F4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3040" y="4416552"/>
            <a:ext cx="9281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42C1"/>
                </a:solidFill>
              </a:rPr>
              <a:t>Yang diubah hanya batas kondisi: i &lt;= 5 menjadi i &lt;= 10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Modifikasi kode kecil dapat mengubah jumlah pengulangan.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Latihan 4: Angka Genap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Naik satu tingkat: perubahan nilai tidak selalu i++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5577840" cy="2011680"/>
          </a:xfrm>
          <a:prstGeom prst="roundRect">
            <a:avLst>
              <a:gd name="adj" fmla="val 5909"/>
            </a:avLst>
          </a:prstGeom>
          <a:solidFill>
            <a:srgbClr val="111827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33272" y="1563624"/>
            <a:ext cx="5248656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(int i = 2; i &lt;= 10; i += 2) {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cout &lt;&lt; i &lt;&lt; endl;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903720" y="1417320"/>
            <a:ext cx="4434840" cy="2011680"/>
          </a:xfrm>
          <a:prstGeom prst="roundRect">
            <a:avLst>
              <a:gd name="adj" fmla="val 6364"/>
            </a:avLst>
          </a:prstGeom>
          <a:solidFill>
            <a:srgbClr val="FFF2C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69480" y="17373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</a:rPr>
              <a:t>i += 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269480" y="2423160"/>
            <a:ext cx="37033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65D"/>
                </a:solidFill>
              </a:rPr>
              <a:t>artinya nilai i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7365D"/>
                </a:solidFill>
              </a:rPr>
              <a:t>bertambah 2 setiap putaran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965960" y="4160520"/>
            <a:ext cx="8183880" cy="822960"/>
          </a:xfrm>
          <a:prstGeom prst="roundRect">
            <a:avLst>
              <a:gd name="adj" fmla="val 15556"/>
            </a:avLst>
          </a:prstGeom>
          <a:solidFill>
            <a:srgbClr val="D9EAF7"/>
          </a:solidFill>
          <a:ln w="25400">
            <a:solidFill>
              <a:srgbClr val="2474D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40280" y="437083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74D1"/>
                </a:solidFill>
              </a:rPr>
              <a:t>Output: 2   4   6   8   10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Gunakan perubahan nilai sesuai pola angka yang ingin ditampilkan.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Akhir: Gabungkan if + for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Materi lama dan materi baru bertemu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6537960" cy="4251960"/>
          </a:xfrm>
          <a:prstGeom prst="roundRect">
            <a:avLst>
              <a:gd name="adj" fmla="val 2796"/>
            </a:avLst>
          </a:prstGeom>
          <a:solidFill>
            <a:srgbClr val="111827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1472184"/>
            <a:ext cx="6208776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(int i = 1; i &lt;= 10; i++) {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 (i % 2 == 0) {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cout &lt;&lt; "Genap" &lt;&lt; endl;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 else {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cout &lt;&lt; "Ganjil" &lt;&lt; endl;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26680" y="1325880"/>
            <a:ext cx="3749040" cy="4251960"/>
          </a:xfrm>
          <a:prstGeom prst="roundRect">
            <a:avLst>
              <a:gd name="adj" fmla="val 3415"/>
            </a:avLst>
          </a:prstGeom>
          <a:solidFill>
            <a:srgbClr val="E2F0D9"/>
          </a:solidFill>
          <a:ln w="25400">
            <a:solidFill>
              <a:srgbClr val="4EA64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010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A64F"/>
                </a:solidFill>
              </a:rPr>
              <a:t>Apa yang dilatih?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046720" y="2212848"/>
            <a:ext cx="310896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365D"/>
                </a:solidFill>
              </a:rPr>
              <a:t>• counter i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7365D"/>
                </a:solidFill>
              </a:rPr>
              <a:t>• perulangan for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7365D"/>
                </a:solidFill>
              </a:rPr>
              <a:t>• operator %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7365D"/>
                </a:solidFill>
              </a:rPr>
              <a:t>• kondisi if-else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7365D"/>
                </a:solidFill>
              </a:rPr>
              <a:t>• output tiap putaran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046720" y="4434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42C1"/>
                </a:solidFill>
              </a:rPr>
              <a:t>Target: siswa boleh mencoba trace 1–5 dulu.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Ini penutup kuat sebelum pertemuan berikutnya membahas loop lebih lanjut.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Dikerjakan cepat di akhir 1 JP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3474720" cy="3474720"/>
          </a:xfrm>
          <a:prstGeom prst="roundRect">
            <a:avLst>
              <a:gd name="adj" fmla="val 3684"/>
            </a:avLst>
          </a:prstGeom>
          <a:solidFill>
            <a:srgbClr val="D9EAF7"/>
          </a:solidFill>
          <a:ln w="25400">
            <a:solidFill>
              <a:srgbClr val="2474D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40280" y="1691640"/>
            <a:ext cx="640080" cy="502920"/>
          </a:xfrm>
          <a:prstGeom prst="ellipse">
            <a:avLst/>
          </a:prstGeom>
          <a:solidFill>
            <a:srgbClr val="2474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3017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365D"/>
                </a:solidFill>
              </a:rPr>
              <a:t>Tuliskan 3 bagian utama pada for.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474720" cy="3474720"/>
          </a:xfrm>
          <a:prstGeom prst="roundRect">
            <a:avLst>
              <a:gd name="adj" fmla="val 3684"/>
            </a:avLst>
          </a:prstGeom>
          <a:solidFill>
            <a:srgbClr val="FFF2C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1691640"/>
            <a:ext cx="64008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09160" y="2606040"/>
            <a:ext cx="2926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7365D"/>
                </a:solidFill>
              </a:rPr>
              <a:t>Kapan perulangan berhenti?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474720" cy="3474720"/>
          </a:xfrm>
          <a:prstGeom prst="roundRect">
            <a:avLst>
              <a:gd name="adj" fmla="val 3684"/>
            </a:avLst>
          </a:prstGeom>
          <a:solidFill>
            <a:srgbClr val="E8DAF8"/>
          </a:solidFill>
          <a:ln w="25400">
            <a:solidFill>
              <a:srgbClr val="6F4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464040" y="1691640"/>
            <a:ext cx="640080" cy="502920"/>
          </a:xfrm>
          <a:prstGeom prst="ellipse">
            <a:avLst/>
          </a:prstGeom>
          <a:solidFill>
            <a:srgbClr val="6F42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366760" y="2697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365D"/>
                </a:solidFill>
              </a:rPr>
              <a:t>Apa arti i++?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48840" y="525780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</a:rPr>
              <a:t>Jawab singkat di kertas / buku.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Gunakan exit ticket untuk menentukan apakah pertemuan berikutnya lanjut while atau menguatkan for lagi.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 Hari Ini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656" y="7863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</a:rPr>
              <a:t>Dari membaca kode menuju menulis loop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417320"/>
            <a:ext cx="10104120" cy="713232"/>
          </a:xfrm>
          <a:prstGeom prst="roundRect">
            <a:avLst>
              <a:gd name="adj" fmla="val 17949"/>
            </a:avLst>
          </a:prstGeom>
          <a:solidFill>
            <a:srgbClr val="D9EAF7"/>
          </a:solidFill>
          <a:ln w="25400">
            <a:solidFill>
              <a:srgbClr val="2474D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16184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2474D1"/>
                </a:solidFill>
              </a:rPr>
              <a:t>Variabel berubah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389120" y="1563624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00600" y="1600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nilai dapat diperbarui baris demi baris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51560" y="2377440"/>
            <a:ext cx="10104120" cy="713232"/>
          </a:xfrm>
          <a:prstGeom prst="roundRect">
            <a:avLst>
              <a:gd name="adj" fmla="val 17949"/>
            </a:avLst>
          </a:prstGeom>
          <a:solidFill>
            <a:srgbClr val="E2F0D9"/>
          </a:solidFill>
          <a:ln w="25400">
            <a:solidFill>
              <a:srgbClr val="4EA64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5786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4EA64F"/>
                </a:solidFill>
              </a:rPr>
              <a:t>Kondisi dicek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4389120" y="2523744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TRUE jalan, FALSE berhenti/lewati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51560" y="3337560"/>
            <a:ext cx="10104120" cy="713232"/>
          </a:xfrm>
          <a:prstGeom prst="roundRect">
            <a:avLst>
              <a:gd name="adj" fmla="val 17949"/>
            </a:avLst>
          </a:prstGeom>
          <a:solidFill>
            <a:srgbClr val="FFF2C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25880" y="3538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F59E0B"/>
                </a:solidFill>
              </a:rPr>
              <a:t>Perulangan for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4389120" y="3483864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00600" y="3520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awal → kondisi → isi blok → perubahan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51560" y="4297680"/>
            <a:ext cx="10104120" cy="713232"/>
          </a:xfrm>
          <a:prstGeom prst="roundRect">
            <a:avLst>
              <a:gd name="adj" fmla="val 17949"/>
            </a:avLst>
          </a:prstGeom>
          <a:solidFill>
            <a:srgbClr val="E8DAF8"/>
          </a:solidFill>
          <a:ln w="25400">
            <a:solidFill>
              <a:srgbClr val="6F4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25880" y="44988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6F42C1"/>
                </a:solidFill>
              </a:rPr>
              <a:t>Tracing penting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4389120" y="4443984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00600" y="4480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jangan hanya menebak output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5532120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74C3C"/>
                </a:solidFill>
              </a:rPr>
              <a:t>Pertemuan berikutnya: latihan for lebih banyak dan mulai membandingkan dengan while.</a:t>
            </a:r>
            <a:endParaRPr lang="en-US" sz="2300" dirty="0"/>
          </a:p>
        </p:txBody>
      </p:sp>
      <p:sp>
        <p:nvSpPr>
          <p:cNvPr id="22" name="Shape 20"/>
          <p:cNvSpPr/>
          <p:nvPr/>
        </p:nvSpPr>
        <p:spPr>
          <a:xfrm>
            <a:off x="594360" y="6291072"/>
            <a:ext cx="11018520" cy="393192"/>
          </a:xfrm>
          <a:prstGeom prst="roundRect">
            <a:avLst>
              <a:gd name="adj" fmla="val 23256"/>
            </a:avLst>
          </a:prstGeom>
          <a:solidFill>
            <a:srgbClr val="FFF2CC"/>
          </a:solidFill>
          <a:ln w="1905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D"/>
                </a:solidFill>
              </a:rPr>
              <a:t>Baca kode seperti komputer: dari atas ke bawah, satu langkah demi satu langkah.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After Istirahat - Perulangan for</dc:title>
  <dc:subject>After Code Trail - Pengenalan Perulangan for</dc:subject>
  <dc:creator>OpenAI</dc:creator>
  <cp:lastModifiedBy>OpenAI</cp:lastModifiedBy>
  <cp:revision>1</cp:revision>
  <dcterms:created xsi:type="dcterms:W3CDTF">2026-09-09T11:52:17Z</dcterms:created>
  <dcterms:modified xsi:type="dcterms:W3CDTF">2026-09-09T11:52:17Z</dcterms:modified>
</cp:coreProperties>
</file>